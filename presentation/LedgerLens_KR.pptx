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72" r:id="rId28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3" r:id="rId2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Relationship Id="rId28" Type="http://schemas.openxmlformats.org/officeDocument/2006/relationships/slide" Target="slides/slide2.xml"/><Relationship Id="rId29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jpg"/><Relationship Id="rId6" Type="http://schemas.openxmlformats.org/officeDocument/2006/relationships/image" Target="../media/image6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Relationship Id="rId3" Type="http://schemas.openxmlformats.org/officeDocument/2006/relationships/image" Target="../media/image2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Noto Sans CJK KR"/>
                <a:cs typeface="Google Sans Flex SemiBold"/>
                <a:sym typeface="Google Sans Flex SemiBold"/>
              </a:rPr>
              <a:t>팀 정보</a:t>
            </a:r>
            <a:endParaRPr sz="2100">
              <a:latin typeface="Google Sans Flex SemiBold"/>
              <a:ea typeface="Noto Sans CJK KR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Noto Sans CJK KR"/>
                <a:cs typeface="Google Sans Flex"/>
                <a:sym typeface="Google Sans Flex"/>
              </a:rPr>
              <a:t>팀명: Hey Merlion!</a:t>
            </a:r>
            <a:endParaRPr sz="1800">
              <a:latin typeface="Google Sans Flex"/>
              <a:ea typeface="Noto Sans CJK KR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Noto Sans CJK KR"/>
                <a:cs typeface="Google Sans Flex"/>
                <a:sym typeface="Google Sans Flex"/>
              </a:rPr>
              <a:t>팀장: 남창현 (팀원: 남창현, 양현호)</a:t>
            </a:r>
            <a:endParaRPr sz="1800">
              <a:latin typeface="Google Sans Flex"/>
              <a:ea typeface="Noto Sans CJK KR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600">
                <a:latin typeface="Google Sans Flex"/>
                <a:ea typeface="Noto Sans CJK KR"/>
                <a:cs typeface="Google Sans Flex"/>
                <a:sym typeface="Google Sans Flex"/>
              </a:rPr>
              <a:t>문제 영역: BFSI (지능형 리스크, 사기 탐지, 금융 경험)</a:t>
            </a:r>
            <a:endParaRPr sz="1800">
              <a:latin typeface="Google Sans Flex"/>
              <a:ea typeface="Noto Sans CJK KR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왜 중요한가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2A7F8E"/>
                </a:solidFill>
                <a:latin typeface="Arial"/>
                <a:ea typeface="Noto Sans CJK KR"/>
              </a:rPr>
              <a:t>문제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128016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1" i="0">
                <a:solidFill>
                  <a:srgbClr val="0F3D4C"/>
                </a:solidFill>
                <a:latin typeface="Arial"/>
                <a:ea typeface="Noto Sans CJK KR"/>
              </a:rPr>
              <a:t>은행은 현금흐름으로 대출할 준비가 됐습니다.</a:t>
            </a:r>
          </a:p>
          <a:p>
            <a:pPr algn="l"/>
            <a:r>
              <a:rPr sz="1700" b="1" i="0">
                <a:solidFill>
                  <a:srgbClr val="0F3D4C"/>
                </a:solidFill>
                <a:latin typeface="Arial"/>
                <a:ea typeface="Noto Sans CJK KR"/>
              </a:rPr>
              <a:t>그런데 사람이 읽으면 너무 비싸고, AI가 쓴 숫자는 원본을 찾을 수 없습니다.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2057400"/>
            <a:ext cx="2697480" cy="274320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11480" y="2130552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850" b="1" i="0">
                <a:solidFill>
                  <a:srgbClr val="2A7F8E"/>
                </a:solidFill>
                <a:latin typeface="Arial"/>
                <a:ea typeface="Noto Sans CJK KR"/>
              </a:rPr>
              <a:t>린의 사례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2359152"/>
            <a:ext cx="2468880" cy="4114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  <a:ea typeface="Noto Sans CJK KR"/>
              </a:rPr>
              <a:t>베트남의 Shopee 셀러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2761488"/>
            <a:ext cx="2423160" cy="1325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운전자금 VND 1억 5천만을 신청했습니다. 매출은 실제로 나고 있습니다.</a:t>
            </a:r>
          </a:p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가져온 서류는 14개입니다. 은행 거래내역 PDF, 월별 Shopee 대시보드 캡처, 매입 영수증, 매장 사진.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11480" y="3877056"/>
            <a:ext cx="2423160" cy="694944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524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521207" y="3895344"/>
            <a:ext cx="2240280" cy="65836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신용기록도, 담보도 없습니다.</a:t>
            </a:r>
          </a:p>
          <a:p>
            <a:pPr algn="l"/>
            <a:r>
              <a:rPr sz="950" b="0" i="0">
                <a:solidFill>
                  <a:srgbClr val="B3261E"/>
                </a:solidFill>
                <a:latin typeface="Arial"/>
                <a:ea typeface="Noto Sans CJK KR"/>
              </a:rPr>
              <a:t>지금은 거절되거나, 근거 없이 고금리를 받습니다.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626864"/>
            <a:ext cx="2468880" cy="16459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00" b="0" i="0">
                <a:solidFill>
                  <a:srgbClr val="5F6368"/>
                </a:solidFill>
                <a:latin typeface="Arial"/>
                <a:ea typeface="Noto Sans CJK KR"/>
              </a:rPr>
              <a:t>합성 데모 케이스 B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337560" y="2240280"/>
            <a:ext cx="27432" cy="2377440"/>
          </a:xfrm>
          <a:prstGeom prst="roundRect">
            <a:avLst>
              <a:gd name="adj" fmla="val 0"/>
            </a:avLst>
          </a:prstGeom>
          <a:solidFill>
            <a:srgbClr val="D5DB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3200400" y="22174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Noto Sans CJK KR"/>
              </a:rPr>
              <a:t>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630168" y="2057400"/>
            <a:ext cx="5239511" cy="630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3749040" y="2093976"/>
            <a:ext cx="109728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000" b="1" i="0">
                <a:solidFill>
                  <a:srgbClr val="0F3D4C"/>
                </a:solidFill>
                <a:latin typeface="Arial"/>
                <a:ea typeface="Noto Sans CJK KR"/>
              </a:rPr>
              <a:t>8.8%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92040" y="2093976"/>
            <a:ext cx="388620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베트남 SME 중 은행 대출을 받은 비율. 대기업은 47.1%. 신용기록과 담보가 없으면 거절됩니다.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00400" y="292150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Noto Sans CJK KR"/>
              </a:rPr>
              <a:t>2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630168" y="2761488"/>
            <a:ext cx="5239511" cy="630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3749040" y="2798064"/>
            <a:ext cx="109728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000" b="1" i="0">
                <a:solidFill>
                  <a:srgbClr val="0F3D4C"/>
                </a:solidFill>
                <a:latin typeface="Arial"/>
                <a:ea typeface="Noto Sans CJK KR"/>
              </a:rPr>
              <a:t>75.5%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892040" y="2798064"/>
            <a:ext cx="388620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베트남 기업 중 담보 없이는 대출이 불가능한 비율. 그래서 은행들이 현금흐름 대출로 옮겨가고 있습니다(VPBank, Vietcombank, Agribank).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200400" y="36255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  <a:ea typeface="Noto Sans CJK KR"/>
              </a:rPr>
              <a:t>3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630168" y="3465576"/>
            <a:ext cx="5239511" cy="630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749040" y="3502152"/>
            <a:ext cx="109728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000" b="1" i="0">
                <a:solidFill>
                  <a:srgbClr val="0F3D4C"/>
                </a:solidFill>
                <a:latin typeface="Arial"/>
                <a:ea typeface="Noto Sans CJK KR"/>
              </a:rPr>
              <a:t>~45분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92040" y="3502152"/>
            <a:ext cx="388620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서류 한 건을 사람이 읽고 검증하는 시간. 소액 대출이면 심사 비용이 대출 수익보다 큽니다.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200400" y="4329683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  <a:ea typeface="Noto Sans CJK KR"/>
              </a:rPr>
              <a:t>4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630168" y="4169663"/>
            <a:ext cx="5239511" cy="630936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778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3749040" y="4206240"/>
            <a:ext cx="109728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2000" b="1" i="0">
                <a:solidFill>
                  <a:srgbClr val="0F3D4C"/>
                </a:solidFill>
                <a:latin typeface="Arial"/>
                <a:ea typeface="Noto Sans CJK KR"/>
              </a:rPr>
              <a:t>77%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892040" y="4206240"/>
            <a:ext cx="3886200" cy="55778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단일 Gemini 프롬프트가 쓴 메모 속 숫자 중 원본 페이지가 없는 비율. 심사역이 하나씩 다시 찾아야 합니다. 심어 둔 위험도 15%만 잡았습니다.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00" b="0" i="0">
                <a:solidFill>
                  <a:srgbClr val="5F6368"/>
                </a:solidFill>
                <a:latin typeface="Arial"/>
                <a:ea typeface="Noto Sans CJK KR"/>
              </a:rPr>
              <a:t>출처: 1 FiinGroup, Viet Nam News (2026년 8월) · 2 VCCI 2025, VTV (2026년 5월) · 3 팀 추정, ADB Asia SME Monitor 2025 · 4 자체 벤치마크, gemini-3.8-flash 실측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아이디어 개요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2A7F8E"/>
                </a:solidFill>
                <a:latin typeface="Arial"/>
                <a:ea typeface="Noto Sans CJK KR"/>
              </a:rPr>
              <a:t>해결책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1280160"/>
            <a:ext cx="85953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F3D4C"/>
                </a:solidFill>
                <a:latin typeface="Arial"/>
                <a:ea typeface="Noto Sans CJK KR"/>
              </a:rPr>
              <a:t>LedgerLens는 서류 더미를 읽고, 근거를 보여주고, 사람이 서명하기 전에 스스로를 반박합니다.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74320" y="201168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420623" y="21305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Noto Sans CJK KR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59536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  <a:ea typeface="Noto Sans CJK KR"/>
              </a:rPr>
              <a:t>근거와 함께 읽기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9536" y="234086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해결: 읽는 비용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3" y="2633472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Gemini가 모든 페이지를 읽고, 값마다 문서·페이지·좌표를 붙입니다. 현금흐름은 Python이 계산합니다. 출처 없는 숫자가 있는 메모는 거부되고 다시 작성됩니다.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84048" y="3767328"/>
            <a:ext cx="2478024" cy="658368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75488" y="3794760"/>
            <a:ext cx="2295144" cy="6126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0F3D4C"/>
                </a:solidFill>
                <a:latin typeface="Arial"/>
                <a:ea typeface="Noto Sans CJK KR"/>
              </a:rPr>
              <a:t>린의 서류에서: </a:t>
            </a:r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서류 14개, 모든 숫자에 페이지와 좌표, 약 2분.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3008376" y="3108960"/>
            <a:ext cx="182880" cy="256032"/>
          </a:xfrm>
          <a:prstGeom prst="rightArrow">
            <a:avLst/>
          </a:prstGeom>
          <a:solidFill>
            <a:srgbClr val="B9C6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223260" y="201168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3369564" y="21305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0F3D4C"/>
                </a:solidFill>
                <a:latin typeface="Arial"/>
                <a:ea typeface="Noto Sans CJK KR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08476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  <a:ea typeface="Noto Sans CJK KR"/>
              </a:rPr>
              <a:t>반박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08476" y="234086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  <a:ea typeface="Noto Sans CJK KR"/>
              </a:rPr>
              <a:t>해결: AI 신뢰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69564" y="2633472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작성자의 프롬프트를 보지 않는 별도 에이전트가 결정론적 검사와 12개 심사 질문을 돌리고, 근거와 함께 이의를 심각도순으로 올립니다.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332988" y="3767328"/>
            <a:ext cx="2478024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3424428" y="3794760"/>
            <a:ext cx="2295144" cy="6126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0F3D4C"/>
                </a:solidFill>
                <a:latin typeface="Arial"/>
                <a:ea typeface="Noto Sans CJK KR"/>
              </a:rPr>
              <a:t>린의 서류에서: </a:t>
            </a:r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재사용된 영수증 사진, 매출로 잡힌 본인 계좌 이체 VND 8,250만을 잡아냅니다.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5957316" y="3108960"/>
            <a:ext cx="182880" cy="256032"/>
          </a:xfrm>
          <a:prstGeom prst="rightArrow">
            <a:avLst/>
          </a:prstGeom>
          <a:solidFill>
            <a:srgbClr val="B9C6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172200" y="2011680"/>
            <a:ext cx="26974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6318504" y="213055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Noto Sans CJK KR"/>
              </a:rPr>
              <a:t>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757416" y="21031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  <a:ea typeface="Noto Sans CJK KR"/>
              </a:rPr>
              <a:t>사람이 서명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757416" y="2340864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유지: 책임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318504" y="2633472"/>
            <a:ext cx="2404872" cy="11430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심사역이 이의를 하나씩 수용하거나 기각하고 서명합니다. 모든 에이전트 호출이 기록되고, 결정은 다음 심사의 검사 가중치에 반영됩니다.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6281928" y="3767328"/>
            <a:ext cx="2478024" cy="658368"/>
          </a:xfrm>
          <a:prstGeom prst="roundRect">
            <a:avLst>
              <a:gd name="adj" fmla="val 8000"/>
            </a:avLst>
          </a:prstGeom>
          <a:solidFill>
            <a:srgbClr val="E6F2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373368" y="3794760"/>
            <a:ext cx="2295144" cy="612648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0F3D4C"/>
                </a:solidFill>
                <a:latin typeface="Arial"/>
                <a:ea typeface="Noto Sans CJK KR"/>
              </a:rPr>
              <a:t>린의 서류에서: </a:t>
            </a:r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린은 결정과 충족할 조건을 베트남어로 받습니다.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1" i="0">
                <a:solidFill>
                  <a:srgbClr val="0F3D4C"/>
                </a:solidFill>
                <a:latin typeface="Arial"/>
                <a:ea typeface="Noto Sans CJK KR"/>
              </a:rPr>
              <a:t>신청자의 서류에만 근거합니다. </a:t>
            </a:r>
            <a:r>
              <a:rPr sz="1050" b="0" i="0">
                <a:solidFill>
                  <a:srgbClr val="5F6368"/>
                </a:solidFill>
                <a:latin typeface="Arial"/>
                <a:ea typeface="Noto Sans CJK KR"/>
              </a:rPr>
              <a:t>가드레일: 출력 스키마, 결정론적 검사, 두 번째 에이전트, 사람의 서명.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Noto Sans CJK KR"/>
                <a:cs typeface="Google Sans Flex SemiBold"/>
                <a:sym typeface="Google Sans Flex SemiBold"/>
              </a:rPr>
              <a:t>기회와 기대효과</a:t>
            </a:r>
            <a:br>
              <a:rPr lang="en-GB" sz="1600">
                <a:latin typeface="Google Sans Flex SemiBold"/>
                <a:ea typeface="Noto Sans CJK KR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Noto Sans CJK KR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Noto Sans CJK KR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Noto Sans CJK KR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Noto Sans CJK KR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Noto Sans CJK KR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Noto Sans CJK KR"/>
                <a:cs typeface="Google Sans Flex"/>
                <a:sym typeface="Google Sans Flex"/>
              </a:rPr>
              <a:t/>
            </a:r>
            <a:endParaRPr sz="1300">
              <a:latin typeface="Google Sans Flex"/>
              <a:ea typeface="Noto Sans CJK KR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2A7F8E"/>
                </a:solidFill>
                <a:latin typeface="Arial"/>
                <a:ea typeface="Noto Sans CJK KR"/>
              </a:rPr>
              <a:t>기대효과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1280160"/>
            <a:ext cx="8595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1" i="0">
                <a:solidFill>
                  <a:srgbClr val="0F3D4C"/>
                </a:solidFill>
                <a:latin typeface="Arial"/>
                <a:ea typeface="Noto Sans CJK KR"/>
              </a:rPr>
              <a:t>누구에게, 무엇이 달라지는가.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74320" y="1783080"/>
            <a:ext cx="2743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420623" y="1892807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대출기관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20623" y="22402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200" b="1" i="0">
                <a:solidFill>
                  <a:srgbClr val="0F3D4C"/>
                </a:solidFill>
                <a:latin typeface="Arial"/>
                <a:ea typeface="Noto Sans CJK KR"/>
              </a:rPr>
              <a:t>45 → 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20623" y="28529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1" i="0">
                <a:solidFill>
                  <a:srgbClr val="2A7F8E"/>
                </a:solidFill>
                <a:latin typeface="Arial"/>
                <a:ea typeface="Noto Sans CJK KR"/>
              </a:rPr>
              <a:t>서류 한 건당 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0623" y="315468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건당 USD ~11 → 0.28. 소액 대출도 심사할 가치가 생깁니다.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00400" y="1783080"/>
            <a:ext cx="2743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3346704" y="1892807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소상공인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346704" y="22402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200" b="1" i="0">
                <a:solidFill>
                  <a:srgbClr val="0F3D4C"/>
                </a:solidFill>
                <a:latin typeface="Arial"/>
                <a:ea typeface="Noto Sans CJK KR"/>
              </a:rPr>
              <a:t>현금흐름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46704" y="28529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1" i="0">
                <a:solidFill>
                  <a:srgbClr val="2A7F8E"/>
                </a:solidFill>
                <a:latin typeface="Arial"/>
                <a:ea typeface="Noto Sans CJK KR"/>
              </a:rPr>
              <a:t>담보가 아니라 현금흐름으로 심사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346704" y="315468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이미 가진 서류로 심사받습니다. 거절되더라도 사유를 자기 언어로 받습니다.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126480" y="1783080"/>
            <a:ext cx="2743200" cy="1874519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6272784" y="1892807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0F3D4C"/>
                </a:solidFill>
                <a:latin typeface="Arial"/>
                <a:ea typeface="Noto Sans CJK KR"/>
              </a:rPr>
              <a:t>리스크·감사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72784" y="224028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200" b="1" i="0">
                <a:solidFill>
                  <a:srgbClr val="0F3D4C"/>
                </a:solidFill>
                <a:latin typeface="Arial"/>
                <a:ea typeface="Noto Sans CJK KR"/>
              </a:rPr>
              <a:t>77% → 0%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2784" y="28529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1" i="0">
                <a:solidFill>
                  <a:srgbClr val="2A7F8E"/>
                </a:solidFill>
                <a:latin typeface="Arial"/>
                <a:ea typeface="Noto Sans CJK KR"/>
              </a:rPr>
              <a:t>원본 페이지가 없는 숫자의 비율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72784" y="3154680"/>
            <a:ext cx="2468880" cy="6858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모든 숫자가 페이지와 좌표를 가리켜 다시 찾을 필요가 없습니다. 심어 둔 위험 탐지율 90% vs 15%.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74320" y="3794760"/>
            <a:ext cx="8595360" cy="502920"/>
          </a:xfrm>
          <a:prstGeom prst="roundRect">
            <a:avLst>
              <a:gd name="adj" fmla="val 8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411480" y="3813048"/>
            <a:ext cx="8321040" cy="466344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950" b="1" i="0">
                <a:solidFill>
                  <a:srgbClr val="E0A100"/>
                </a:solidFill>
                <a:latin typeface="Arial"/>
                <a:ea typeface="Noto Sans CJK KR"/>
              </a:rPr>
              <a:t>차별점   </a:t>
            </a:r>
            <a:r>
              <a:rPr sz="950" b="0" i="0">
                <a:solidFill>
                  <a:srgbClr val="FFFFFF"/>
                </a:solidFill>
                <a:latin typeface="Arial"/>
                <a:ea typeface="Noto Sans CJK KR"/>
              </a:rPr>
              <a:t>작성과 검증은 서로 다른 에이전트 · 숫자는 생성하지 않고 코드로 계산 · 모든 숫자는 클릭하면 원본 줄로 · 결정이 검사 가중치에 반영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74320" y="4407408"/>
            <a:ext cx="8595360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다시 8.8%로: </a:t>
            </a:r>
            <a:r>
              <a:rPr sz="1100" b="0" i="0">
                <a:solidFill>
                  <a:srgbClr val="5F6368"/>
                </a:solidFill>
                <a:latin typeface="Arial"/>
                <a:ea typeface="Noto Sans CJK KR"/>
              </a:rPr>
              <a:t>서류 한 건을 읽는 데 한 시간이 아니라 몇 분과 몇백 원이 든다면, 지금 거절되는 대출이 할 만한 대출이 됩니다.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00" b="0" i="0">
                <a:solidFill>
                  <a:srgbClr val="5F6368"/>
                </a:solidFill>
                <a:latin typeface="Arial"/>
                <a:ea typeface="Noto Sans CJK KR"/>
              </a:rPr>
              <a:t>수작업 기준치(45분, 시간당 USD 15)는 팀 추정치. 근거 문서와 페이지가 없는 숫자를 '원본 없는 숫자'로 셌으며, 맞고 틀림은 측정하지 않음. gemini-3.8-flash 실측, 소규모 합성 데이터 기준.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제공 기능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F3D4C"/>
                </a:solidFill>
                <a:latin typeface="Arial"/>
                <a:ea typeface="Noto Sans CJK KR"/>
              </a:rPr>
              <a:t>모든 기능은 하나의 파이프라인 위에 있고, 그 끝에는 사람이 있습니다.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74320" y="1810512"/>
            <a:ext cx="8595360" cy="36576"/>
          </a:xfrm>
          <a:prstGeom prst="roundRect">
            <a:avLst>
              <a:gd name="adj" fmla="val 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365760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접수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74320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65760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멀티모달 접수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65760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PDF, 캡처, 사진. 문서 유형 분류와 품질 표시.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606731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추출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515291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1606731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근거 연결 추출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06731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모든 값에 문서·페이지·좌표. PDF 텍스트 레이어로 검증.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847702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현금흐름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756262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2847702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결정론적 모델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47702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유입, 유출, 추세, 변동성, 상환 여력. 모델이 아니라 Python이 계산.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4088674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분석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997234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4088674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클릭 가능한 메모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88674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카탈로그 숫자만 인용. 누르면 원본 줄이 열림.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329645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0F3D4C"/>
                </a:solidFill>
                <a:latin typeface="Arial"/>
                <a:ea typeface="Noto Sans CJK KR"/>
              </a:rPr>
              <a:t>반박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238205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329645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결정론적 검사 + 12개 질문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329645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이미지 해시, 잔액 연속성, 날짜. 근거 있는 이의를 순위대로.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570617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결정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479177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70617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심사역 워크벤치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570617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수용·기각, 서명. 감사 로그. 결정이 가중치에 반영.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811588" y="1700784"/>
            <a:ext cx="966651" cy="256032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  <a:ea typeface="Noto Sans CJK KR"/>
              </a:rPr>
              <a:t>설명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7720148" y="2103120"/>
            <a:ext cx="1149531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811588" y="2194560"/>
            <a:ext cx="966651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안내문과 인쇄 메모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811588" y="2788920"/>
            <a:ext cx="966651" cy="178308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00" b="0" i="0">
                <a:solidFill>
                  <a:srgbClr val="202124"/>
                </a:solidFill>
                <a:latin typeface="Arial"/>
                <a:ea typeface="Noto Sans CJK KR"/>
              </a:rPr>
              <a:t>현지 언어로 고객 안내문. 메모는 출처 각주와 함께 인쇄.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1" i="0">
                <a:solidFill>
                  <a:srgbClr val="0F3D4C"/>
                </a:solidFill>
                <a:latin typeface="Arial"/>
                <a:ea typeface="Noto Sans CJK KR"/>
              </a:rPr>
              <a:t>의도적으로 제외한 범위: </a:t>
            </a:r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신용점수 산출, 금리 결정, 코어뱅킹 연동. LedgerLens는 판단을 돕지만 결정하지 않습니다.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프로세스 흐름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process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70432"/>
            <a:ext cx="8173783" cy="347472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세 개의 레인: 대출 담당자가 올리고, 에이전트가 읽고 반박하고, 심사역이 결정합니다. 결정은 다시 챌린저의 우선순위로 돌아갑니다.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핵심 화면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74320" y="1078992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2A7F8E"/>
                </a:solidFill>
                <a:latin typeface="Arial"/>
                <a:ea typeface="Noto Sans CJK KR"/>
              </a:rPr>
              <a:t>제품을 한 번의 클릭으로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4320" y="1280160"/>
            <a:ext cx="859536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2600" b="1" i="0">
                <a:solidFill>
                  <a:srgbClr val="0F3D4C"/>
                </a:solidFill>
                <a:latin typeface="Arial"/>
                <a:ea typeface="Noto Sans CJK KR"/>
              </a:rPr>
              <a:t>숫자를 누르면, 원본 줄이 보입니다.</a:t>
            </a:r>
          </a:p>
        </p:txBody>
      </p:sp>
      <p:pic>
        <p:nvPicPr>
          <p:cNvPr id="106" name="Picture 105" descr="v2_evidence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783080"/>
            <a:ext cx="4271441" cy="31089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07" name="Rounded Rectangle 106"/>
          <p:cNvSpPr/>
          <p:nvPr/>
        </p:nvSpPr>
        <p:spPr>
          <a:xfrm>
            <a:off x="1137434" y="2132539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  <a:ea typeface="Noto Sans CJK KR"/>
              </a:rPr>
              <a:t>1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286397" y="224067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  <a:ea typeface="Noto Sans CJK KR"/>
              </a:rPr>
              <a:t>2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4138256" y="244343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000" b="1">
                <a:solidFill>
                  <a:srgbClr val="0F3D4C"/>
                </a:solidFill>
                <a:latin typeface="Arial"/>
                <a:ea typeface="Noto Sans CJK KR"/>
              </a:rPr>
              <a:t>3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754880" y="178308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1" name="Rounded Rectangle 110"/>
          <p:cNvSpPr/>
          <p:nvPr/>
        </p:nvSpPr>
        <p:spPr>
          <a:xfrm>
            <a:off x="4882896" y="191109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Noto Sans CJK KR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303520" y="1874519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  <a:ea typeface="Noto Sans CJK KR"/>
              </a:rPr>
              <a:t>메모가 숫자를 인용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882896" y="2240280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밑줄 친 값은 모두 출처가 있는 카탈로그 숫자입니다. 여기서는 VND 82,500,000, 신청자 본인 계좌에서 들어온 입금.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754880" y="2834639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4882896" y="296265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0F3D4C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Noto Sans CJK KR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03520" y="2926079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  <a:ea typeface="Noto Sans CJK KR"/>
              </a:rPr>
              <a:t>클릭하면 근거가 열림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882896" y="3291839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계산식(송금인이 예금주와 같은 입금 3건의 합)과 출처 3곳: 2, 4, 5페이지.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4754880" y="3886200"/>
            <a:ext cx="4114800" cy="9601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4882896" y="4014215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1100" b="1">
                <a:solidFill>
                  <a:srgbClr val="0F3D4C"/>
                </a:solidFill>
                <a:latin typeface="Arial"/>
                <a:ea typeface="Noto Sans CJK KR"/>
              </a:rPr>
              <a:t>3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03520" y="3977639"/>
            <a:ext cx="34747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350" b="1" i="0">
                <a:solidFill>
                  <a:srgbClr val="0F3D4C"/>
                </a:solidFill>
                <a:latin typeface="Arial"/>
                <a:ea typeface="Noto Sans CJK KR"/>
              </a:rPr>
              <a:t>원본 줄이 강조됨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882896" y="4343400"/>
            <a:ext cx="38862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202124"/>
                </a:solidFill>
                <a:latin typeface="Arial"/>
                <a:ea typeface="Noto Sans CJK KR"/>
              </a:rPr>
              <a:t>거래내역 페이지가 열리고, 추출기가 찾은 좌표가 정확한 행에 표시됩니다. 출처 없는 숫자가 있는 메모는 거부되고 다시 작성됩니다.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아키텍처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archit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1170432"/>
            <a:ext cx="7476118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사용 기술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74320" y="1115568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0F3D4C"/>
                </a:solidFill>
                <a:latin typeface="Arial"/>
                <a:ea typeface="Noto Sans CJK KR"/>
              </a:rPr>
              <a:t>Gemini가 읽고, ADK가 조율하고, Python이 계산하고, Cloud Run이 서비스합니다.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74320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402336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GOOGLE CLOUD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02336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Gemini 3.8 Flash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02336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모든 에이전트의 기본 모델. 최초 실행 건당 USD 0.26~0.31 실측, 캐시 재실행은 USD 0.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441448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2569464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GOOGLE CLOUD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569464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Gemini 3.1 Pro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569464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환경변수 하나로 추출·분석·챌린저를 Pro로 전환.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08576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4736592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GOOGLE CLOUD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736592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ADK on Cloud Run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36592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Agent Platform: 접수, 추출기 5개, 분석, 챌린저(조사·작성), 설명.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775704" y="1645920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6903720" y="1737360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GOOGLE CLOUD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03720" y="1947672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Cloud Run + Firebase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903720" y="2304288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FastAPI 백엔드는 0까지 자동 축소. React 워크벤치는 Firebase Hosting.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274320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402336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A7F8E"/>
                </a:solidFill>
                <a:latin typeface="Arial"/>
                <a:ea typeface="Noto Sans CJK KR"/>
              </a:rPr>
              <a:t>GOOGLE CLOUD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02336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Firestore + Storage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02336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케이스, 추출 결과, 메모, 이의, 결정, 감사, 트레이스. 원본 문서.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2441448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2569464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  <a:ea typeface="Noto Sans CJK KR"/>
              </a:rPr>
              <a:t>PYTHON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569464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결정론적 도구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569464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현금흐름 모델, 잔액 연속성, 이미지 해시, PDF 텍스트 레이어 교차검증, 날짜·주체 검사.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08576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736592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  <a:ea typeface="Noto Sans CJK KR"/>
              </a:rPr>
              <a:t>PYTHON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36592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LLM 캐시, 예산 상한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736592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모델·프롬프트 버전별 콘텐츠 해시 캐시. 프로세스당 USD 상한.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775704" y="3172968"/>
            <a:ext cx="2075688" cy="141732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6903720" y="3264408"/>
            <a:ext cx="1819656" cy="2286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E0A100"/>
                </a:solidFill>
                <a:latin typeface="Arial"/>
                <a:ea typeface="Noto Sans CJK KR"/>
              </a:rPr>
              <a:t>연동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03720" y="3474720"/>
            <a:ext cx="1819656" cy="36576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50" b="1" i="0">
                <a:solidFill>
                  <a:srgbClr val="0F3D4C"/>
                </a:solidFill>
                <a:latin typeface="Arial"/>
                <a:ea typeface="Noto Sans CJK KR"/>
              </a:rPr>
              <a:t>REST API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03720" y="3831335"/>
            <a:ext cx="1819656" cy="7315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어떤 여신 시스템(LOS)이든 케이스 생성, 단계 실행, 메모 조회 가능.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5F6368"/>
                </a:solidFill>
                <a:latin typeface="Arial"/>
                <a:ea typeface="Noto Sans CJK KR"/>
              </a:rPr>
              <a:t>그라운딩: 신청자의 서류만 사용. 모든 값은 출처 {doc_id, page, bbox}를 가져야 함. 별도 OCR 없이 Gemini가 렌더링된 페이지를 직접 읽음.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구현 비용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0F3D4C"/>
                </a:solidFill>
                <a:latin typeface="Arial"/>
                <a:ea typeface="Noto Sans CJK KR"/>
              </a:rPr>
              <a:t>실측: Flash 최초 실행 건당 USD 0.26~0.31, 캐시 재실행 USD 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74320" y="164592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050" b="1" i="0">
                <a:solidFill>
                  <a:srgbClr val="0F3D4C"/>
                </a:solidFill>
                <a:latin typeface="Arial"/>
                <a:ea typeface="Noto Sans CJK KR"/>
              </a:rPr>
              <a:t>건당 비용, USD (gemini-3.8-flash, 2026-10-15 실측)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2130552" y="2011680"/>
            <a:ext cx="13716" cy="2743200"/>
          </a:xfrm>
          <a:prstGeom prst="roundRect">
            <a:avLst>
              <a:gd name="adj" fmla="val 0"/>
            </a:avLst>
          </a:prstGeom>
          <a:solidFill>
            <a:srgbClr val="D5DB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274320" y="2103120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950" b="1" i="0">
                <a:solidFill>
                  <a:srgbClr val="0F3D4C"/>
                </a:solidFill>
                <a:latin typeface="Arial"/>
                <a:ea typeface="Noto Sans CJK KR"/>
              </a:rPr>
              <a:t>LedgerLens 최초 실행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274320" y="2377439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케이스 B, 서류 14개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48840" y="2148839"/>
            <a:ext cx="2697480" cy="45720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4919472" y="2194560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0.306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74320" y="2779776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950" b="1" i="0">
                <a:solidFill>
                  <a:srgbClr val="0F3D4C"/>
                </a:solidFill>
                <a:latin typeface="Arial"/>
                <a:ea typeface="Noto Sans CJK KR"/>
              </a:rPr>
              <a:t>LedgerLens 최초 실행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74320" y="3054096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케이스 C, 서류 11개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148840" y="2825496"/>
            <a:ext cx="2265530" cy="457200"/>
          </a:xfrm>
          <a:prstGeom prst="rect">
            <a:avLst/>
          </a:prstGeom>
          <a:solidFill>
            <a:srgbClr val="E0A10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8" name="TextBox 137"/>
          <p:cNvSpPr txBox="1"/>
          <p:nvPr/>
        </p:nvSpPr>
        <p:spPr>
          <a:xfrm>
            <a:off x="4487522" y="2871216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0.257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74320" y="3456432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950" b="1" i="0">
                <a:solidFill>
                  <a:srgbClr val="0F3D4C"/>
                </a:solidFill>
                <a:latin typeface="Arial"/>
                <a:ea typeface="Noto Sans CJK KR"/>
              </a:rPr>
              <a:t>단일 프롬프트 기준선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74320" y="3730752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검사 없음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48840" y="3502152"/>
            <a:ext cx="132229" cy="457200"/>
          </a:xfrm>
          <a:prstGeom prst="rect">
            <a:avLst/>
          </a:prstGeom>
          <a:solidFill>
            <a:srgbClr val="B0B8B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2354221" y="3547872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0.015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74320" y="4133088"/>
            <a:ext cx="1783080" cy="292608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950" b="1" i="0">
                <a:solidFill>
                  <a:srgbClr val="0F3D4C"/>
                </a:solidFill>
                <a:latin typeface="Arial"/>
                <a:ea typeface="Noto Sans CJK KR"/>
              </a:rPr>
              <a:t>LedgerLens 캐시 재실행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74320" y="4407408"/>
            <a:ext cx="1783080" cy="25603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r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콘텐츠 해시 캐시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148840" y="4178808"/>
            <a:ext cx="18288" cy="457200"/>
          </a:xfrm>
          <a:prstGeom prst="rect">
            <a:avLst/>
          </a:prstGeom>
          <a:solidFill>
            <a:srgbClr val="2A7F8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2240280" y="4224528"/>
            <a:ext cx="731520" cy="365760"/>
          </a:xfrm>
          <a:prstGeom prst="rect">
            <a:avLst/>
          </a:prstGeom>
          <a:noFill/>
        </p:spPr>
        <p:txBody>
          <a:bodyPr wrap="square" anchor="ctr" lIns="0" rIns="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0.000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760720" y="1645920"/>
            <a:ext cx="1234440" cy="388620"/>
          </a:xfrm>
          <a:prstGeom prst="rect">
            <a:avLst/>
          </a:prstGeom>
          <a:solidFill>
            <a:srgbClr val="0F3D4C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5797296" y="164592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Noto Sans CJK KR"/>
              </a:rPr>
              <a:t>가정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995160" y="1645920"/>
            <a:ext cx="1874519" cy="388620"/>
          </a:xfrm>
          <a:prstGeom prst="rect">
            <a:avLst/>
          </a:prstGeom>
          <a:solidFill>
            <a:srgbClr val="0F3D4C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7031736" y="164592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Arial"/>
                <a:ea typeface="Noto Sans CJK KR"/>
              </a:rPr>
              <a:t>값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760720" y="2034540"/>
            <a:ext cx="1234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797296" y="203454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Gemini 3.8 Flash 정가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995160" y="2034540"/>
            <a:ext cx="1874519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7031736" y="203454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100만 토큰당 USD 0.75 / 3.75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760720" y="2423160"/>
            <a:ext cx="1234440" cy="388620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5797296" y="242316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최초 실행 실측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995160" y="2423160"/>
            <a:ext cx="1874519" cy="388620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7031736" y="242316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건당 약 2분, USD 0.26~0.31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760720" y="2811780"/>
            <a:ext cx="1234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5797296" y="281178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캐시 재실행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995160" y="2811780"/>
            <a:ext cx="1874519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7031736" y="281178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USD 0 (콘텐츠 해시 LLM 캐시)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760720" y="3200400"/>
            <a:ext cx="1234440" cy="388620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5797296" y="320040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공개 데모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995160" y="3200400"/>
            <a:ext cx="1874519" cy="388620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7031736" y="320040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녹화된 실제 실행을 재생, USD 0. 고객 안내문만 Gemini 호출 (~USD 0.0015)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760720" y="3589020"/>
            <a:ext cx="1234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5797296" y="358902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호스팅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995160" y="3589020"/>
            <a:ext cx="1874519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7031736" y="358902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Cloud Run은 0까지 축소, Firestore·Storage는 무료 구간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5760720" y="3977639"/>
            <a:ext cx="1234440" cy="388620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5797296" y="3977639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가드레일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6995160" y="3977639"/>
            <a:ext cx="1874519" cy="388620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7031736" y="3977639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예산 상한 환경변수로 초과 시 Gemini 호출 중단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760720" y="4366260"/>
            <a:ext cx="1234440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5797296" y="4366260"/>
            <a:ext cx="1161288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1" i="0">
                <a:solidFill>
                  <a:srgbClr val="202124"/>
                </a:solidFill>
                <a:latin typeface="Arial"/>
                <a:ea typeface="Noto Sans CJK KR"/>
              </a:rPr>
              <a:t>개발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6995160" y="4366260"/>
            <a:ext cx="1874519" cy="3886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7031736" y="4366260"/>
            <a:ext cx="1801367" cy="38862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850" b="0" i="0">
                <a:solidFill>
                  <a:srgbClr val="202124"/>
                </a:solidFill>
                <a:latin typeface="Arial"/>
                <a:ea typeface="Noto Sans CJK KR"/>
              </a:rPr>
              <a:t>엔지니어 2명, 4일, 무료 구간과 체험 크레딧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프로토타입 화면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v2_newcas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2852928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37" name="Rounded Rectangle 136"/>
          <p:cNvSpPr/>
          <p:nvPr/>
        </p:nvSpPr>
        <p:spPr>
          <a:xfrm>
            <a:off x="347472" y="12618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1</a:t>
            </a:r>
          </a:p>
        </p:txBody>
      </p:sp>
      <p:pic>
        <p:nvPicPr>
          <p:cNvPr id="138" name="Picture 137" descr="v2_evidence_c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8872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39" name="Rounded Rectangle 138"/>
          <p:cNvSpPr/>
          <p:nvPr/>
        </p:nvSpPr>
        <p:spPr>
          <a:xfrm>
            <a:off x="3502152" y="12618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2</a:t>
            </a:r>
          </a:p>
        </p:txBody>
      </p:sp>
      <p:pic>
        <p:nvPicPr>
          <p:cNvPr id="140" name="Picture 139" descr="v2_receipt_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310896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41" name="Rounded Rectangle 140"/>
          <p:cNvSpPr/>
          <p:nvPr/>
        </p:nvSpPr>
        <p:spPr>
          <a:xfrm>
            <a:off x="347472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3</a:t>
            </a:r>
          </a:p>
        </p:txBody>
      </p:sp>
      <p:pic>
        <p:nvPicPr>
          <p:cNvPr id="142" name="Picture 141" descr="v2_decision_c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108960"/>
            <a:ext cx="2449797" cy="178308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143" name="Rounded Rectangle 142"/>
          <p:cNvSpPr/>
          <p:nvPr/>
        </p:nvSpPr>
        <p:spPr>
          <a:xfrm>
            <a:off x="3502152" y="318211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4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629400" y="1207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49440" y="1152144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새 케이스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629400" y="1499616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신청자 정보를 넣고 원본 서류를 올리면, 접수 에이전트가 분류하고 품질을 표시합니다.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629400" y="21762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949440" y="2121408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숫자를 누르면 원본 줄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629400" y="2468880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계산식과 모든 출처를 보여주는 근거 패널. 거래내역의 해당 위치가 강조됩니다.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629400" y="31455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3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949440" y="3090672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챌린저의 이의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629400" y="3438144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심각: 두 영수증 사진이 날짜만 바꾼 같은 이미지. 근거 칩을 누르면 사진이 열립니다.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629400" y="411480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0A100"/>
          </a:solidFill>
          <a:ln>
            <a:noFill/>
          </a:ln>
          <a:effectLst/>
        </p:spPr>
        <p:txBody>
          <a:bodyPr rtlCol="0" anchor="ctr" lIns="36576" rIns="36576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  <a:ea typeface="Noto Sans CJK KR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949440" y="4059936"/>
            <a:ext cx="1920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F3D4C"/>
                </a:solidFill>
                <a:latin typeface="Arial"/>
                <a:ea typeface="Noto Sans CJK KR"/>
              </a:rPr>
              <a:t>심사역 서명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629400" y="4407408"/>
            <a:ext cx="224028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결과, 조건, 사유가 감사 로그에 기록되고, 수용·기각 비율이 검사 가중치에 반영됩니다.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성능 및 벤치마크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0F3D4C"/>
                </a:solidFill>
                <a:latin typeface="Arial"/>
                <a:ea typeface="Noto Sans CJK KR"/>
              </a:rPr>
              <a:t>실제 Gemini 실행에서 심어 둔 위험의 90%를 잡았습니다.</a:t>
            </a:r>
          </a:p>
          <a:p>
            <a:pPr algn="l"/>
            <a:r>
              <a:rPr sz="1600" b="1" i="0">
                <a:solidFill>
                  <a:srgbClr val="0F3D4C"/>
                </a:solidFill>
                <a:latin typeface="Arial"/>
                <a:ea typeface="Noto Sans CJK KR"/>
              </a:rPr>
              <a:t>같은 서류를 단일 프롬프트로 읽으면 15%입니다.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74320" y="178308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3CC"/>
          </a:solidFill>
          <a:ln w="19050">
            <a:solidFill>
              <a:srgbClr val="E0A10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TextBox 145"/>
          <p:cNvSpPr txBox="1"/>
          <p:nvPr/>
        </p:nvSpPr>
        <p:spPr>
          <a:xfrm>
            <a:off x="411480" y="18288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E0A100"/>
                </a:solidFill>
                <a:latin typeface="Arial"/>
                <a:ea typeface="Noto Sans CJK KR"/>
              </a:rPr>
              <a:t>LedgerLens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11480" y="219456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6000" b="1" i="0">
                <a:solidFill>
                  <a:srgbClr val="0F3D4C"/>
                </a:solidFill>
                <a:latin typeface="Arial"/>
                <a:ea typeface="Noto Sans CJK KR"/>
              </a:rPr>
              <a:t>90%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31089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202124"/>
                </a:solidFill>
                <a:latin typeface="Arial"/>
                <a:ea typeface="Noto Sans CJK KR"/>
              </a:rPr>
              <a:t>심어 둔 위험 탐지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소규모 합성 데이터, 참고 지표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1460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00" b="1" i="0">
                <a:solidFill>
                  <a:srgbClr val="5F6368"/>
                </a:solidFill>
                <a:latin typeface="Arial"/>
                <a:ea typeface="Noto Sans CJK KR"/>
              </a:rPr>
              <a:t>단일 프롬프트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514600" y="219456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6000" b="1" i="0">
                <a:solidFill>
                  <a:srgbClr val="B0B8BE"/>
                </a:solidFill>
                <a:latin typeface="Arial"/>
                <a:ea typeface="Noto Sans CJK KR"/>
              </a:rPr>
              <a:t>15%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514600" y="3108960"/>
            <a:ext cx="1828800" cy="45720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100" b="0" i="0">
                <a:solidFill>
                  <a:srgbClr val="5F6368"/>
                </a:solidFill>
                <a:latin typeface="Arial"/>
                <a:ea typeface="Noto Sans CJK KR"/>
              </a:rPr>
              <a:t>같은 서류</a:t>
            </a:r>
          </a:p>
          <a:p>
            <a:pPr algn="l"/>
            <a:r>
              <a:rPr sz="850" b="0" i="0">
                <a:solidFill>
                  <a:srgbClr val="5F6368"/>
                </a:solidFill>
                <a:latin typeface="Arial"/>
                <a:ea typeface="Noto Sans CJK KR"/>
              </a:rPr>
              <a:t>같은 모델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274320" y="3749039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384048" y="3794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000" b="1" i="0">
                <a:solidFill>
                  <a:srgbClr val="0F3D4C"/>
                </a:solidFill>
                <a:latin typeface="Arial"/>
                <a:ea typeface="Noto Sans CJK KR"/>
              </a:rPr>
              <a:t>100%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84048" y="434340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메모 속 숫자 중 원본 페이지가 있는 비율 (단일 프롬프트: 23%)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377440" y="3749039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6" name="TextBox 155"/>
          <p:cNvSpPr txBox="1"/>
          <p:nvPr/>
        </p:nvSpPr>
        <p:spPr>
          <a:xfrm>
            <a:off x="2487168" y="3794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3000" b="1" i="0">
                <a:solidFill>
                  <a:srgbClr val="0F3D4C"/>
                </a:solidFill>
                <a:latin typeface="Arial"/>
                <a:ea typeface="Noto Sans CJK KR"/>
              </a:rPr>
              <a:t>~2분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2487168" y="4343400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최초 실행 건당, USD 0.26~0.31. 캐시 재실행 USD 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572000" y="1783080"/>
            <a:ext cx="1691640" cy="257175"/>
          </a:xfrm>
          <a:prstGeom prst="rect">
            <a:avLst/>
          </a:prstGeom>
          <a:solidFill>
            <a:srgbClr val="0F3D4C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4608576" y="1783080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  <a:ea typeface="Noto Sans CJK KR"/>
              </a:rPr>
              <a:t>지표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263640" y="1783080"/>
            <a:ext cx="731520" cy="257175"/>
          </a:xfrm>
          <a:prstGeom prst="rect">
            <a:avLst/>
          </a:prstGeom>
          <a:solidFill>
            <a:srgbClr val="0F3D4C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300216" y="1783080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  <a:ea typeface="Noto Sans CJK KR"/>
              </a:rPr>
              <a:t>목표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995159" y="1783080"/>
            <a:ext cx="1874519" cy="257175"/>
          </a:xfrm>
          <a:prstGeom prst="rect">
            <a:avLst/>
          </a:prstGeom>
          <a:solidFill>
            <a:srgbClr val="0F3D4C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7031736" y="1783080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Arial"/>
                <a:ea typeface="Noto Sans CJK KR"/>
              </a:rPr>
              <a:t>결과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572000" y="2040255"/>
            <a:ext cx="169164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4608576" y="2040255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위험 탐지율 (엄격)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6263640" y="2040255"/>
            <a:ext cx="73152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6300216" y="2040255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≥ 80%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995159" y="2040255"/>
            <a:ext cx="1874519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7031736" y="2040255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90% (단일 프롬프트: 15%)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72000" y="2297430"/>
            <a:ext cx="1691640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4608576" y="2297430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원본 있는 숫자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263640" y="2297430"/>
            <a:ext cx="731520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6300216" y="2297430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100%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995159" y="2297430"/>
            <a:ext cx="1874519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5" name="TextBox 174"/>
          <p:cNvSpPr txBox="1"/>
          <p:nvPr/>
        </p:nvSpPr>
        <p:spPr>
          <a:xfrm>
            <a:off x="7031736" y="2297430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100% (단일 프롬프트: 23%)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572000" y="2554605"/>
            <a:ext cx="169164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7" name="TextBox 176"/>
          <p:cNvSpPr txBox="1"/>
          <p:nvPr/>
        </p:nvSpPr>
        <p:spPr>
          <a:xfrm>
            <a:off x="4608576" y="2554605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정상 케이스 A의 이의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263640" y="2554605"/>
            <a:ext cx="73152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9" name="TextBox 178"/>
          <p:cNvSpPr txBox="1"/>
          <p:nvPr/>
        </p:nvSpPr>
        <p:spPr>
          <a:xfrm>
            <a:off x="6300216" y="2554605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≤ 20%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995159" y="2554605"/>
            <a:ext cx="1874519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7031736" y="2554605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없음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572000" y="2811780"/>
            <a:ext cx="1691640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3" name="TextBox 182"/>
          <p:cNvSpPr txBox="1"/>
          <p:nvPr/>
        </p:nvSpPr>
        <p:spPr>
          <a:xfrm>
            <a:off x="4608576" y="2811780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추출 행 정확도*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263640" y="2811780"/>
            <a:ext cx="731520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6300216" y="2811780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≥ 97%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995159" y="2811780"/>
            <a:ext cx="1874519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7" name="TextBox 186"/>
          <p:cNvSpPr txBox="1"/>
          <p:nvPr/>
        </p:nvSpPr>
        <p:spPr>
          <a:xfrm>
            <a:off x="7031736" y="2811780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100%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572000" y="3068955"/>
            <a:ext cx="169164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608576" y="3068955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근거 연결 정확도*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263640" y="3068955"/>
            <a:ext cx="73152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1" name="TextBox 190"/>
          <p:cNvSpPr txBox="1"/>
          <p:nvPr/>
        </p:nvSpPr>
        <p:spPr>
          <a:xfrm>
            <a:off x="6300216" y="3068955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≥ 95%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995159" y="3068955"/>
            <a:ext cx="1874519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7031736" y="3068955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100%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572000" y="3326130"/>
            <a:ext cx="1691640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5" name="TextBox 194"/>
          <p:cNvSpPr txBox="1"/>
          <p:nvPr/>
        </p:nvSpPr>
        <p:spPr>
          <a:xfrm>
            <a:off x="4608576" y="3326130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건당 시간 (최초)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6263640" y="3326130"/>
            <a:ext cx="731520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7" name="TextBox 196"/>
          <p:cNvSpPr txBox="1"/>
          <p:nvPr/>
        </p:nvSpPr>
        <p:spPr>
          <a:xfrm>
            <a:off x="6300216" y="3326130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≤ 180초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995159" y="3326130"/>
            <a:ext cx="1874519" cy="257175"/>
          </a:xfrm>
          <a:prstGeom prst="rect">
            <a:avLst/>
          </a:prstGeom>
          <a:solidFill>
            <a:srgbClr val="F7F9FA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9" name="TextBox 198"/>
          <p:cNvSpPr txBox="1"/>
          <p:nvPr/>
        </p:nvSpPr>
        <p:spPr>
          <a:xfrm>
            <a:off x="7031736" y="3326130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~2분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572000" y="3583305"/>
            <a:ext cx="169164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1" name="TextBox 200"/>
          <p:cNvSpPr txBox="1"/>
          <p:nvPr/>
        </p:nvSpPr>
        <p:spPr>
          <a:xfrm>
            <a:off x="4608576" y="3583305"/>
            <a:ext cx="161848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1" i="0">
                <a:solidFill>
                  <a:srgbClr val="202124"/>
                </a:solidFill>
                <a:latin typeface="Arial"/>
                <a:ea typeface="Noto Sans CJK KR"/>
              </a:rPr>
              <a:t>건당 비용 (최초)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263640" y="3583305"/>
            <a:ext cx="73152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3" name="TextBox 202"/>
          <p:cNvSpPr txBox="1"/>
          <p:nvPr/>
        </p:nvSpPr>
        <p:spPr>
          <a:xfrm>
            <a:off x="6300216" y="3583305"/>
            <a:ext cx="658368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≤ USD 0.50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995159" y="3583305"/>
            <a:ext cx="1874519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5" name="TextBox 204"/>
          <p:cNvSpPr txBox="1"/>
          <p:nvPr/>
        </p:nvSpPr>
        <p:spPr>
          <a:xfrm>
            <a:off x="7031736" y="3583305"/>
            <a:ext cx="1801367" cy="257175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/>
            <a:r>
              <a:rPr sz="900" b="0" i="0">
                <a:solidFill>
                  <a:srgbClr val="202124"/>
                </a:solidFill>
                <a:latin typeface="Arial"/>
                <a:ea typeface="Noto Sans CJK KR"/>
              </a:rPr>
              <a:t>USD 0.26~0.31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4572000" y="3913632"/>
            <a:ext cx="4297680" cy="1024128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7" name="TextBox 206"/>
          <p:cNvSpPr txBox="1"/>
          <p:nvPr/>
        </p:nvSpPr>
        <p:spPr>
          <a:xfrm>
            <a:off x="4663440" y="3941063"/>
            <a:ext cx="4133087" cy="987552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750" b="1" i="0">
                <a:solidFill>
                  <a:srgbClr val="202124"/>
                </a:solidFill>
                <a:latin typeface="Arial"/>
                <a:ea typeface="Noto Sans CJK KR"/>
              </a:rPr>
              <a:t>측정 방법. </a:t>
            </a:r>
            <a:r>
              <a:rPr sz="750" b="0" i="0">
                <a:solidFill>
                  <a:srgbClr val="202124"/>
                </a:solidFill>
                <a:latin typeface="Arial"/>
                <a:ea typeface="Noto Sans CJK KR"/>
              </a:rPr>
              <a:t>gemini-3.8-flash 실측, 2026-10-15/16. 팀이 위험을 심어 둔 합성 사업자 세 곳. 엄격 채점: 이의에 위험을 특정하는 금액이나 문서가 있어야 인정, 위험당 이의 1개. </a:t>
            </a:r>
            <a:r>
              <a:rPr sz="750" b="0" i="0">
                <a:solidFill>
                  <a:srgbClr val="202124"/>
                </a:solidFill>
                <a:latin typeface="Arial"/>
                <a:ea typeface="Noto Sans CJK KR"/>
              </a:rPr>
              <a:t>원본 있는 숫자 = 근거 문서와 페이지가 있는 숫자이며, 맞고 틀림은 측정하지 않음. 표본이 작으므로 모든 비율은 참고 지표. 놓친 것: 대시보드 총매출 vs 정산액, COD vs 현금 입금. 권고안은 C에서 일치, A는 조건부 승인(기대: 승인), B는 추가 서류 요청(기대: 조건부 승인). *깨끗한 디지털 합성 PDF 기준이며, 실제 스캔본은 더 낮을 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향후 계획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152" name="Picture 151" descr="road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245927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결정은 사람이 하고, 모든 숫자와 결정은 추적 가능합니다. 프로토타입은 워터마크가 찍힌 합성 데이터만 쓰며, 운영 시 문서와 모델 엔드포인트는 역내에 둡니다.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링크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Noto Sans CJK KR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Noto Sans CJK KR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Noto Sans CJK KR"/>
                <a:cs typeface="Google Sans Flex Medium"/>
                <a:sym typeface="Google Sans Flex Medium"/>
              </a:rPr>
              <a:t/>
            </a:r>
            <a:endParaRPr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sp>
        <p:nvSpPr>
          <p:cNvPr id="160" name="Rounded Rectangle 159"/>
          <p:cNvSpPr/>
          <p:nvPr/>
        </p:nvSpPr>
        <p:spPr>
          <a:xfrm>
            <a:off x="274320" y="1188720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57200" y="13258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  <a:ea typeface="Noto Sans CJK KR"/>
              </a:rPr>
              <a:t>GitHub 저장소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7200" y="1783080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  <a:ea typeface="Noto Sans CJK KR"/>
              </a:rPr>
              <a:t>github.com/changhyeonnam/ghack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749039" y="1325880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  <a:ea typeface="Noto Sans CJK KR"/>
              </a:rPr>
              <a:t>README, 아키텍처, 실행 방법, 합성 데이터 안내, presentation/ 폴더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274320" y="2404872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457200" y="2542032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  <a:ea typeface="Noto Sans CJK KR"/>
              </a:rPr>
              <a:t>데모 영상 (3~4분)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57200" y="2999232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  <a:ea typeface="Noto Sans CJK KR"/>
              </a:rPr>
              <a:t>준비 중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749039" y="2542032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  <a:ea typeface="Noto Sans CJK KR"/>
              </a:rPr>
              <a:t>20초 안에 문제 제시, 숫자 클릭과 챌린저 장면, 마지막에 벤치마크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274320" y="3621024"/>
            <a:ext cx="8595360" cy="1097280"/>
          </a:xfrm>
          <a:prstGeom prst="roundRect">
            <a:avLst>
              <a:gd name="adj" fmla="val 6000"/>
            </a:avLst>
          </a:prstGeom>
          <a:solidFill>
            <a:srgbClr val="F7F9FA"/>
          </a:solidFill>
          <a:ln w="12700">
            <a:solidFill>
              <a:srgbClr val="D5DBD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9" name="TextBox 168"/>
          <p:cNvSpPr txBox="1"/>
          <p:nvPr/>
        </p:nvSpPr>
        <p:spPr>
          <a:xfrm>
            <a:off x="457200" y="3758184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0F3D4C"/>
                </a:solidFill>
                <a:latin typeface="Arial"/>
                <a:ea typeface="Noto Sans CJK KR"/>
              </a:rPr>
              <a:t>배포 버전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57200" y="4215384"/>
            <a:ext cx="310896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2A7F8E"/>
                </a:solidFill>
                <a:latin typeface="Arial"/>
                <a:ea typeface="Noto Sans CJK KR"/>
              </a:rPr>
              <a:t>준비 중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749039" y="3758184"/>
            <a:ext cx="493776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50" b="0" i="0">
                <a:solidFill>
                  <a:srgbClr val="5F6368"/>
                </a:solidFill>
                <a:latin typeface="Arial"/>
                <a:ea typeface="Noto Sans CJK KR"/>
              </a:rPr>
              <a:t>Cloud Run 서비스. 브라우저마다 데모 케이스 3개의 사본을 받습니다(데모 초기화 가능). 0까지 축소되고, 데모는 녹화된 실제 실행을 재생해 비용이 들지 않습니다(고객 안내문만 Gemini 실시간 호출).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5F6368"/>
                </a:solidFill>
                <a:latin typeface="Arial"/>
                <a:ea typeface="Noto Sans CJK KR"/>
              </a:rPr>
              <a:t>내부 공유용 한국어판입니다. 영문 제출본과 내용이 같습니다.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부록: 챌린저의 12개 고정 검사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167" name="Picture 166" descr="checks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1188720"/>
            <a:ext cx="8595360" cy="36086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ea typeface="Noto Sans CJK KR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Noto Sans CJK KR"/>
                <a:cs typeface="Google Sans Flex Medium"/>
                <a:sym typeface="Google Sans Flex Medium"/>
              </a:rPr>
              <a:t>부록: 포트폴리오, 현금흐름, 감사 화면</a:t>
            </a:r>
            <a:endParaRPr sz="1600">
              <a:latin typeface="Google Sans Flex Medium"/>
              <a:ea typeface="Noto Sans CJK KR"/>
              <a:cs typeface="Google Sans Flex Medium"/>
              <a:sym typeface="Google Sans Flex Medium"/>
            </a:endParaRPr>
          </a:p>
        </p:txBody>
      </p:sp>
      <p:pic>
        <p:nvPicPr>
          <p:cNvPr id="72" name="Picture 71" descr="v2_portfol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2779776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3" name="TextBox 72"/>
          <p:cNvSpPr txBox="1"/>
          <p:nvPr/>
        </p:nvSpPr>
        <p:spPr>
          <a:xfrm>
            <a:off x="274320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  <a:ea typeface="Noto Sans CJK KR"/>
              </a:rPr>
              <a:t>포트폴리오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320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심사 중인 케이스, 미해결 이의, 출처 없는 숫자를 한눈에. 상태별 필터.</a:t>
            </a:r>
          </a:p>
        </p:txBody>
      </p:sp>
      <p:pic>
        <p:nvPicPr>
          <p:cNvPr id="75" name="Picture 74" descr="v2_cashflow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39" y="1188720"/>
            <a:ext cx="2386982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6" name="TextBox 75"/>
          <p:cNvSpPr txBox="1"/>
          <p:nvPr/>
        </p:nvSpPr>
        <p:spPr>
          <a:xfrm>
            <a:off x="3177539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  <a:ea typeface="Noto Sans CJK KR"/>
              </a:rPr>
              <a:t>현금흐름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77539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결정론적 월별 모델: 유입, 순현금, 추세, 변동성, 월말 집중도, 상환 여력.</a:t>
            </a:r>
          </a:p>
        </p:txBody>
      </p:sp>
      <p:pic>
        <p:nvPicPr>
          <p:cNvPr id="78" name="Picture 77" descr="v2_audit_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59" y="1188720"/>
            <a:ext cx="2386982" cy="1737360"/>
          </a:xfrm>
          <a:prstGeom prst="rect">
            <a:avLst/>
          </a:prstGeom>
          <a:ln w="9525">
            <a:solidFill>
              <a:srgbClr val="D5DBDE"/>
            </a:solidFill>
          </a:ln>
        </p:spPr>
      </p:pic>
      <p:sp>
        <p:nvSpPr>
          <p:cNvPr id="79" name="TextBox 78"/>
          <p:cNvSpPr txBox="1"/>
          <p:nvPr/>
        </p:nvSpPr>
        <p:spPr>
          <a:xfrm>
            <a:off x="6080759" y="3017520"/>
            <a:ext cx="2788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0F3D4C"/>
                </a:solidFill>
                <a:latin typeface="Arial"/>
                <a:ea typeface="Noto Sans CJK KR"/>
              </a:rPr>
              <a:t>감사 타임라인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0759" y="3337560"/>
            <a:ext cx="2788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모든 단계와 에이전트 호출을 버전, 모델, 프롬프트와 함께 기록. 감독기관이 읽을 수 있는 이력.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50" b="0" i="0">
                <a:solidFill>
                  <a:srgbClr val="5F6368"/>
                </a:solidFill>
                <a:latin typeface="Arial"/>
                <a:ea typeface="Noto Sans CJK KR"/>
              </a:rPr>
              <a:t>그 밖의 구현: 다크·라이트 테마, 추출한 모든 금액의 PDF 텍스트 레이어 교차검증, 콘텐츠 해시 LLM 캐시, cache_only 데모 모드, 예산 상한, 출처 각주가 붙은 인쇄용 메모.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