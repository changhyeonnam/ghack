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72" r:id="rId28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3" r:id="rId2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8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Relationship Id="rId28" Type="http://schemas.openxmlformats.org/officeDocument/2006/relationships/slide" Target="slides/slide2.xml"/><Relationship Id="rId29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050" b="1">
                <a:solidFill>
                  <a:srgbClr val="0F3D4C"/>
                </a:solidFill>
                <a:latin typeface="Arial"/>
              </a:rPr>
              <a:t>Cost per case, USD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USD per case</c:v>
                </c:pt>
              </c:strCache>
            </c:strRef>
          </c:tx>
          <c:spPr>
            <a:solidFill>
              <a:srgbClr val="2A7F8E"/>
            </a:solidFill>
          </c:spPr>
          <c:dPt>
            <c:idx val="0"/>
            <c:spPr>
              <a:solidFill>
                <a:srgbClr val="B0B8BE"/>
              </a:solidFill>
            </c:spPr>
          </c:dPt>
          <c:dPt>
            <c:idx val="2"/>
            <c:spPr>
              <a:solidFill>
                <a:srgbClr val="E0A100"/>
              </a:solidFill>
            </c:spPr>
          </c:dPt>
          <c:cat>
            <c:strRef>
              <c:f>Sheet1!$A$2:$A$5</c:f>
              <c:strCache>
                <c:ptCount val="4"/>
                <c:pt idx="0">
                  <c:v>Manual review (45 min at USD 15/h)</c:v>
                </c:pt>
                <c:pt idx="1">
                  <c:v>LedgerLens, Gemini 3.1 Pro upgrade</c:v>
                </c:pt>
                <c:pt idx="2">
                  <c:v>LedgerLens, Gemini 3.8 Flash default</c:v>
                </c:pt>
                <c:pt idx="3">
                  <c:v>LedgerLens, cached re-run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11.25</c:v>
                </c:pt>
                <c:pt idx="1">
                  <c:v>0.4</c:v>
                </c:pt>
                <c:pt idx="2">
                  <c:v>0.1</c:v>
                </c:pt>
                <c:pt idx="3">
                  <c:v>0.0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050" b="1">
                  <a:solidFill>
                    <a:srgbClr val="0F3D4C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5DBDE"/>
            </a:solidFill>
          </a:ln>
        </c:spPr>
        <c:txPr>
          <a:bodyPr/>
          <a:lstStyle/>
          <a:p>
            <a:pPr>
              <a:defRPr sz="950">
                <a:solidFill>
                  <a:srgbClr val="202124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5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chart" Target="../charts/char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9.jpg"/><Relationship Id="rId6" Type="http://schemas.openxmlformats.org/officeDocument/2006/relationships/image" Target="../media/image6.jpg"/><Relationship Id="rId7" Type="http://schemas.openxmlformats.org/officeDocument/2006/relationships/image" Target="../media/image10.jpg"/><Relationship Id="rId8" Type="http://schemas.openxmlformats.org/officeDocument/2006/relationships/image" Target="../media/image1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jpg"/><Relationship Id="rId3" Type="http://schemas.openxmlformats.org/officeDocument/2006/relationships/image" Target="../media/image2.pn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name: LedgerLens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Team leader name: Changhyeon (SK Telecom, AI CIC)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600">
                <a:latin typeface="Google Sans Flex"/>
                <a:ea typeface="Google Sans Flex"/>
                <a:cs typeface="Google Sans Flex"/>
                <a:sym typeface="Google Sans Flex"/>
              </a:rPr>
              <a:t>Problem Statement: BFSI: Intelligent Risk, Fraud &amp; Financial Experiences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Why this matters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1556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1" i="0">
                <a:solidFill>
                  <a:srgbClr val="2A7F8E"/>
                </a:solidFill>
                <a:latin typeface="Arial"/>
              </a:rPr>
              <a:t>SOUTHEAST ASIA'S SMALL BUSINESSES RUN THE ECONOMY BUT CANNOT BORROW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74320" y="132588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600" b="1" i="0">
                <a:solidFill>
                  <a:srgbClr val="E0A100"/>
                </a:solidFill>
                <a:latin typeface="Arial"/>
              </a:rPr>
              <a:t>8.8%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2788920"/>
            <a:ext cx="3931920" cy="6400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of Vietnam's 914,000 SMEs have a bank loan.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74320" y="3429000"/>
            <a:ext cx="393192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0" i="0">
                <a:solidFill>
                  <a:srgbClr val="5F6368"/>
                </a:solidFill>
                <a:latin typeface="Arial"/>
              </a:rPr>
              <a:t>Large enterprises: 47.1%. The same small firms employ most of the region.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92608" y="4160520"/>
            <a:ext cx="3895344" cy="566928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7" name="Rounded Rectangle 76"/>
          <p:cNvSpPr/>
          <p:nvPr/>
        </p:nvSpPr>
        <p:spPr>
          <a:xfrm>
            <a:off x="411480" y="4242816"/>
            <a:ext cx="1550456" cy="164592"/>
          </a:xfrm>
          <a:prstGeom prst="roundRect">
            <a:avLst>
              <a:gd name="adj" fmla="val 10000"/>
            </a:avLst>
          </a:prstGeom>
          <a:solidFill>
            <a:srgbClr val="2A7F8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2007656" y="4206240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202124"/>
                </a:solidFill>
                <a:latin typeface="Arial"/>
              </a:rPr>
              <a:t>47.1% large firms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411480" y="4480560"/>
            <a:ext cx="289681" cy="164592"/>
          </a:xfrm>
          <a:prstGeom prst="roundRect">
            <a:avLst>
              <a:gd name="adj" fmla="val 1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746881" y="4443984"/>
            <a:ext cx="1463040" cy="237744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202124"/>
                </a:solidFill>
                <a:latin typeface="Arial"/>
              </a:rPr>
              <a:t>8.8% SMEs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480560" y="1371600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590288" y="1463040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75.5%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943600" y="1444752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Vietnamese firms cannot borrow without collateral. What they have is PDFs, screenshots and paper receipts.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4480560" y="2487168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4590288" y="2578608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2400" b="1" i="0">
                <a:solidFill>
                  <a:srgbClr val="0F3D4C"/>
                </a:solidFill>
                <a:latin typeface="Arial"/>
              </a:rPr>
              <a:t>70%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943600" y="2560320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of emerging-market MSMEs lack adequate financing. Reading their records by hand costs more than a small loan earns.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4480560" y="3602735"/>
            <a:ext cx="4389120" cy="1024128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4590288" y="3694175"/>
            <a:ext cx="1325880" cy="86868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The opening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943600" y="3675887"/>
            <a:ext cx="2834640" cy="9144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202124"/>
                </a:solidFill>
                <a:latin typeface="Arial"/>
              </a:rPr>
              <a:t>VPBank, Vietcombank and Agribank are moving from collateral to cash-flow lending. Someone still has to read the cash flow. LedgerLens makes that reading fast, sourced and auditable.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74320" y="4773168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750" b="0" i="1">
                <a:solidFill>
                  <a:srgbClr val="5F6368"/>
                </a:solidFill>
                <a:latin typeface="Arial"/>
              </a:rPr>
              <a:t>Sources: FiinGroup via Viet Nam News (Aug 2026) · VCCI Private Economic Report 2025 · IFC MSME Finance · VTV (May 2026) · ADB Asia SME Monitor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274320" y="1143000"/>
            <a:ext cx="85953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1" i="0">
                <a:solidFill>
                  <a:srgbClr val="0F3D4C"/>
                </a:solidFill>
                <a:latin typeface="Arial"/>
              </a:rPr>
              <a:t>LedgerLens turns a shoebox of receipts, screenshots and bank PDFs into a credit memo a bank can trust.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7432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4" name="Rounded Rectangle 73"/>
          <p:cNvSpPr/>
          <p:nvPr/>
        </p:nvSpPr>
        <p:spPr>
          <a:xfrm>
            <a:off x="43891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1440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Read with evidence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3891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Gemini reads every document. Every value carries document id, page and bounding box. Python computes the cash flow. Unsourced numbers cannot enter the memo.</a:t>
            </a:r>
          </a:p>
        </p:txBody>
      </p:sp>
      <p:sp>
        <p:nvSpPr>
          <p:cNvPr id="77" name="Right Arrow 76"/>
          <p:cNvSpPr/>
          <p:nvPr/>
        </p:nvSpPr>
        <p:spPr>
          <a:xfrm>
            <a:off x="300837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322326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79" name="Rounded Rectangle 78"/>
          <p:cNvSpPr/>
          <p:nvPr/>
        </p:nvSpPr>
        <p:spPr>
          <a:xfrm>
            <a:off x="338785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63339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8785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A second agent that never sees the first one's prompt runs 12 underwriting checks against the memo and raises severity-ranked objections with evidence.</a:t>
            </a:r>
          </a:p>
        </p:txBody>
      </p:sp>
      <p:sp>
        <p:nvSpPr>
          <p:cNvPr id="82" name="Right Arrow 81"/>
          <p:cNvSpPr/>
          <p:nvPr/>
        </p:nvSpPr>
        <p:spPr>
          <a:xfrm>
            <a:off x="5957316" y="3044952"/>
            <a:ext cx="182880" cy="256032"/>
          </a:xfrm>
          <a:prstGeom prst="rightArrow">
            <a:avLst/>
          </a:prstGeom>
          <a:solidFill>
            <a:srgbClr val="B9C6C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6172200" y="2103120"/>
            <a:ext cx="2697480" cy="2148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4" name="Rounded Rectangle 83"/>
          <p:cNvSpPr/>
          <p:nvPr/>
        </p:nvSpPr>
        <p:spPr>
          <a:xfrm>
            <a:off x="6336792" y="2267712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812280" y="2240280"/>
            <a:ext cx="1920240" cy="457200"/>
          </a:xfrm>
          <a:prstGeom prst="rect">
            <a:avLst/>
          </a:prstGeom>
          <a:noFill/>
        </p:spPr>
        <p:txBody>
          <a:bodyPr wrap="square" anchor="ctr" lIns="0" rIns="0" tIns="27432" bIns="27432">
            <a:spAutoFit/>
          </a:bodyPr>
          <a:lstStyle/>
          <a:p>
            <a:pPr algn="l"/>
            <a:r>
              <a:rPr sz="1600" b="1" i="0">
                <a:solidFill>
                  <a:srgbClr val="0F3D4C"/>
                </a:solidFill>
                <a:latin typeface="Arial"/>
              </a:rPr>
              <a:t>Human signs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36792" y="2788920"/>
            <a:ext cx="2368296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The underwriter accepts or dismisses each objection and signs. Every decision is logged and re-weights the next Challenger run. The applicant gets the reasons in their own language.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74320" y="443484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0F3D4C"/>
                </a:solidFill>
                <a:latin typeface="Arial"/>
              </a:rPr>
              <a:t>Not a score. A memo. </a:t>
            </a:r>
            <a:r>
              <a:rPr sz="1300" b="0" i="0">
                <a:solidFill>
                  <a:srgbClr val="5F6368"/>
                </a:solidFill>
                <a:latin typeface="Arial"/>
              </a:rPr>
              <a:t>AI does the reading and the arguing; the underwriter keeps the decision.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11150" lvl="0" marL="457200" rtl="0" algn="l">
              <a:spcBef>
                <a:spcPts val="0"/>
              </a:spcBef>
              <a:spcAft>
                <a:spcPts val="0"/>
              </a:spcAft>
              <a:buSzPts val="1300"/>
              <a:buFont typeface="Google Sans Flex"/>
              <a:buChar char="●"/>
            </a:pPr>
            <a:r>
              <a:rPr lang="en-GB" sz="1300">
                <a:latin typeface="Google Sans Flex"/>
                <a:ea typeface="Google Sans Flex"/>
                <a:cs typeface="Google Sans Flex"/>
                <a:sym typeface="Google Sans Flex"/>
              </a:rPr>
              <a:t/>
            </a:r>
            <a:endParaRPr sz="13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900" b="1" i="0">
                <a:solidFill>
                  <a:srgbClr val="0F3D4C"/>
                </a:solidFill>
                <a:latin typeface="Arial"/>
              </a:rPr>
              <a:t>Same documents. Read in 3 minutes. Every number defensible.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7432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2" name="TextBox 81"/>
          <p:cNvSpPr txBox="1"/>
          <p:nvPr/>
        </p:nvSpPr>
        <p:spPr>
          <a:xfrm>
            <a:off x="43891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45 →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891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minutes of reading per file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0040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336499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11 → 0.10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36499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USD per case, manual review vs LedgerLens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126480" y="1645920"/>
            <a:ext cx="2743200" cy="123444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88" name="TextBox 87"/>
          <p:cNvSpPr txBox="1"/>
          <p:nvPr/>
        </p:nvSpPr>
        <p:spPr>
          <a:xfrm>
            <a:off x="6291072" y="1737360"/>
            <a:ext cx="2468880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8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291072" y="2487168"/>
            <a:ext cx="24688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050" b="0" i="0">
                <a:solidFill>
                  <a:srgbClr val="5F6368"/>
                </a:solidFill>
                <a:latin typeface="Arial"/>
              </a:rPr>
              <a:t>unsourced numbers in any memo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7432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438912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How it is different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8912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Writer and verifier are separate agents, so the memo is never graded by its author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Figures are computed by code and linked to their source line, not generated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Underwriter decisions re-rank the next Challenger run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4663440" y="3017520"/>
            <a:ext cx="4206240" cy="187451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4" name="TextBox 93"/>
          <p:cNvSpPr txBox="1"/>
          <p:nvPr/>
        </p:nvSpPr>
        <p:spPr>
          <a:xfrm>
            <a:off x="4828031" y="309067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50" b="1" i="0">
                <a:solidFill>
                  <a:srgbClr val="0F3D4C"/>
                </a:solidFill>
                <a:latin typeface="Arial"/>
              </a:rPr>
              <a:t>Who benefits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828031" y="3474720"/>
            <a:ext cx="3931920" cy="1371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Small businesses with records but no credit file get assessed on cash flow, not collateral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A declined applicant receives the reasons, in their own language</a:t>
            </a:r>
          </a:p>
          <a:p>
            <a:pPr algn="l" marL="146304" indent="-146304">
              <a:spcAft>
                <a:spcPts val="400"/>
              </a:spcAft>
              <a:buChar char="•"/>
            </a:pPr>
            <a:r>
              <a:rPr sz="1050" b="0" i="0">
                <a:solidFill>
                  <a:srgbClr val="202124"/>
                </a:solidFill>
                <a:latin typeface="Arial"/>
              </a:rPr>
              <a:t>Lenders can offer small-ticket loans that were uneconomic to underwrite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Every feature hangs on one pipeline, and the pipeline ends with a person.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274320" y="1810512"/>
            <a:ext cx="8595360" cy="36576"/>
          </a:xfrm>
          <a:prstGeom prst="roundRect">
            <a:avLst>
              <a:gd name="adj" fmla="val 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0" name="Rounded Rectangle 89"/>
          <p:cNvSpPr/>
          <p:nvPr/>
        </p:nvSpPr>
        <p:spPr>
          <a:xfrm>
            <a:off x="365760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Intake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74320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2" name="TextBox 91"/>
          <p:cNvSpPr txBox="1"/>
          <p:nvPr/>
        </p:nvSpPr>
        <p:spPr>
          <a:xfrm>
            <a:off x="365760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Multimodal intake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65760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PDF, screenshots, photos. Classified and quality-flagged.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606731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Extract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1515291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96" name="TextBox 95"/>
          <p:cNvSpPr txBox="1"/>
          <p:nvPr/>
        </p:nvSpPr>
        <p:spPr>
          <a:xfrm>
            <a:off x="1606731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Evidence-linked extraction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606731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Doc id, page, bbox on every value. PDF text layer verifies it.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847702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Cash flow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756262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2847702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model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847702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Inflow, outflow, trend, volatility, debt service. Python, not the model.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8674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Analyze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97234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4088674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Clickable memo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088674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Cites catalog figures only. Click one, the source line opens.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5329645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0F3D4C"/>
                </a:solidFill>
                <a:latin typeface="Arial"/>
              </a:rPr>
              <a:t>Challenge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5238205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08" name="TextBox 107"/>
          <p:cNvSpPr txBox="1"/>
          <p:nvPr/>
        </p:nvSpPr>
        <p:spPr>
          <a:xfrm>
            <a:off x="5329645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Battery + 12 checks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5329645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Image hash, balance chain, dates. Ranked objections with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570617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Decide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479177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6570617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Underwriter workbench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570617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Accept or dismiss, sign. Audit log. Decisions re-weight the checks.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7811588" y="1700784"/>
            <a:ext cx="966651" cy="256032"/>
          </a:xfrm>
          <a:prstGeom prst="roundRect">
            <a:avLst>
              <a:gd name="adj" fmla="val 50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850" b="1">
                <a:solidFill>
                  <a:srgbClr val="FFFFFF"/>
                </a:solidFill>
                <a:latin typeface="Arial"/>
              </a:rPr>
              <a:t>Explain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7720148" y="2103120"/>
            <a:ext cx="1149531" cy="2514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16" name="TextBox 115"/>
          <p:cNvSpPr txBox="1"/>
          <p:nvPr/>
        </p:nvSpPr>
        <p:spPr>
          <a:xfrm>
            <a:off x="7811588" y="2194560"/>
            <a:ext cx="966651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Letter and paper memo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7811588" y="2971800"/>
            <a:ext cx="966651" cy="1600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202124"/>
                </a:solidFill>
                <a:latin typeface="Arial"/>
              </a:rPr>
              <a:t>Customer letter in the local language. Memo prints with footnoted sources.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1" i="0">
                <a:solidFill>
                  <a:srgbClr val="0F3D4C"/>
                </a:solidFill>
                <a:latin typeface="Arial"/>
              </a:rPr>
              <a:t>Out of scope by design: </a:t>
            </a:r>
            <a:r>
              <a:rPr sz="950" b="0" i="0">
                <a:solidFill>
                  <a:srgbClr val="5F6368"/>
                </a:solidFill>
                <a:latin typeface="Arial"/>
              </a:rPr>
              <a:t>credit scoring, loan pricing, core-banking integration. LedgerLens informs the decision; it does not make it.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96" name="Picture 95" descr="process_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170432"/>
            <a:ext cx="8173783" cy="3474720"/>
          </a:xfrm>
          <a:prstGeom prst="rect">
            <a:avLst/>
          </a:prstGeom>
        </p:spPr>
      </p:pic>
      <p:sp>
        <p:nvSpPr>
          <p:cNvPr id="97" name="TextBox 96"/>
          <p:cNvSpPr txBox="1"/>
          <p:nvPr/>
        </p:nvSpPr>
        <p:spPr>
          <a:xfrm>
            <a:off x="274320" y="4681728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Three lanes: the loan officer uploads, the agents read and challenge, the underwriter decides. Decisions flow back into the Challenger's priorities.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 / Mock diagrams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Rounded Rectangle 103"/>
          <p:cNvSpPr/>
          <p:nvPr/>
        </p:nvSpPr>
        <p:spPr>
          <a:xfrm>
            <a:off x="274320" y="1143000"/>
            <a:ext cx="8595360" cy="3840480"/>
          </a:xfrm>
          <a:prstGeom prst="roundRect">
            <a:avLst>
              <a:gd name="adj" fmla="val 4000"/>
            </a:avLst>
          </a:prstGeom>
          <a:solidFill>
            <a:srgbClr val="0F3D4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5" name="TextBox 104"/>
          <p:cNvSpPr txBox="1"/>
          <p:nvPr/>
        </p:nvSpPr>
        <p:spPr>
          <a:xfrm>
            <a:off x="457200" y="12161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THE PRODUCT IN ONE INTERACTION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57200" y="1463040"/>
            <a:ext cx="566928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Arial"/>
              </a:rPr>
              <a:t>Click the number. See the line.</a:t>
            </a:r>
          </a:p>
        </p:txBody>
      </p:sp>
      <p:pic>
        <p:nvPicPr>
          <p:cNvPr id="107" name="Picture 106" descr="v2_evidence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2103120"/>
            <a:ext cx="3580472" cy="2606040"/>
          </a:xfrm>
          <a:prstGeom prst="rect">
            <a:avLst/>
          </a:prstGeom>
          <a:ln w="9525">
            <a:solidFill>
              <a:srgbClr val="2E5F6E"/>
            </a:solidFill>
          </a:ln>
        </p:spPr>
      </p:pic>
      <p:sp>
        <p:nvSpPr>
          <p:cNvPr id="108" name="Rounded Rectangle 107"/>
          <p:cNvSpPr/>
          <p:nvPr/>
        </p:nvSpPr>
        <p:spPr>
          <a:xfrm>
            <a:off x="4266272" y="2103120"/>
            <a:ext cx="4420528" cy="804672"/>
          </a:xfrm>
          <a:prstGeom prst="roundRect">
            <a:avLst>
              <a:gd name="adj" fmla="val 6000"/>
            </a:avLst>
          </a:prstGeom>
          <a:solidFill>
            <a:srgbClr val="1550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9" name="TextBox 108"/>
          <p:cNvSpPr txBox="1"/>
          <p:nvPr/>
        </p:nvSpPr>
        <p:spPr>
          <a:xfrm>
            <a:off x="4394287" y="2167127"/>
            <a:ext cx="4164496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E0A100"/>
                </a:solidFill>
                <a:latin typeface="Arial"/>
              </a:rPr>
              <a:t>VND 82,500,000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394287" y="2487168"/>
            <a:ext cx="4164496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BFD8D5"/>
                </a:solidFill>
                <a:latin typeface="Arial"/>
              </a:rPr>
              <a:t>Credits from the applicant's own accounts. Sum of 3 credits whose sender matches the account holder.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4266272" y="3003803"/>
            <a:ext cx="4420528" cy="804672"/>
          </a:xfrm>
          <a:prstGeom prst="roundRect">
            <a:avLst>
              <a:gd name="adj" fmla="val 6000"/>
            </a:avLst>
          </a:prstGeom>
          <a:solidFill>
            <a:srgbClr val="15505F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2" name="TextBox 111"/>
          <p:cNvSpPr txBox="1"/>
          <p:nvPr/>
        </p:nvSpPr>
        <p:spPr>
          <a:xfrm>
            <a:off x="4394287" y="3067811"/>
            <a:ext cx="4164496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300" b="1" i="0">
                <a:solidFill>
                  <a:srgbClr val="E0A100"/>
                </a:solidFill>
                <a:latin typeface="Arial"/>
              </a:rPr>
              <a:t>3 sources, 1 click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94287" y="3387851"/>
            <a:ext cx="4164496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BFD8D5"/>
                </a:solidFill>
                <a:latin typeface="Arial"/>
              </a:rPr>
              <a:t>bank_statement p.2, p.4, p.5. The viewer opens the page and highlights the row.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266272" y="3904487"/>
            <a:ext cx="4420528" cy="804672"/>
          </a:xfrm>
          <a:prstGeom prst="roundRect">
            <a:avLst>
              <a:gd name="adj" fmla="val 6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5" name="TextBox 114"/>
          <p:cNvSpPr txBox="1"/>
          <p:nvPr/>
        </p:nvSpPr>
        <p:spPr>
          <a:xfrm>
            <a:off x="4394287" y="3968496"/>
            <a:ext cx="4164496" cy="3200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250" b="1" i="0">
                <a:solidFill>
                  <a:srgbClr val="0F3D4C"/>
                </a:solidFill>
                <a:latin typeface="Arial"/>
              </a:rPr>
              <a:t>Unsourced numbers: 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4394287" y="4288536"/>
            <a:ext cx="4164496" cy="4572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0F3D4C"/>
                </a:solidFill>
                <a:latin typeface="Arial"/>
              </a:rPr>
              <a:t>Enforced by the output schema. A miss becomes a Challenger objection.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57200" y="4754880"/>
            <a:ext cx="5943600" cy="201168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00" b="0" i="1">
                <a:solidFill>
                  <a:srgbClr val="8FB8B3"/>
                </a:solidFill>
                <a:latin typeface="Arial"/>
              </a:rPr>
              <a:t>Live prototype, case B (Linh Fashion Online): 14 documents, 130 figures, 0 unsourced, 12 objections.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12" name="Picture 111" descr="architectu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1170432"/>
            <a:ext cx="7476118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274320" y="1115568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1" i="0">
                <a:solidFill>
                  <a:srgbClr val="0F3D4C"/>
                </a:solidFill>
                <a:latin typeface="Arial"/>
              </a:rPr>
              <a:t>Gemini reads, ADK orchestrates, Python computes, Cloud Run serves.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274320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2" name="TextBox 121"/>
          <p:cNvSpPr txBox="1"/>
          <p:nvPr/>
        </p:nvSpPr>
        <p:spPr>
          <a:xfrm>
            <a:off x="402336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02336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3.8 Flash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02336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Default for every agent. Free tier available; about USD 0.10 per case paid.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2441448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26" name="TextBox 125"/>
          <p:cNvSpPr txBox="1"/>
          <p:nvPr/>
        </p:nvSpPr>
        <p:spPr>
          <a:xfrm>
            <a:off x="2569464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2569464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Gemini 3.1 Pro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2569464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One env var moves Extractor, Analyst and Challenger to Pro.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608576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0" name="TextBox 129"/>
          <p:cNvSpPr txBox="1"/>
          <p:nvPr/>
        </p:nvSpPr>
        <p:spPr>
          <a:xfrm>
            <a:off x="4736592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4736592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Agent Development Kit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736592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Intake, 5 Extractors, Analyst, Challenger (investigator and writer), Explainer.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6775704" y="1645920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4" name="TextBox 133"/>
          <p:cNvSpPr txBox="1"/>
          <p:nvPr/>
        </p:nvSpPr>
        <p:spPr>
          <a:xfrm>
            <a:off x="6903720" y="1737360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903720" y="1947672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Cloud Run + Firebase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903720" y="2304288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FastAPI backend scales to zero; React workbench on Firebase Hosting.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274320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38" name="TextBox 137"/>
          <p:cNvSpPr txBox="1"/>
          <p:nvPr/>
        </p:nvSpPr>
        <p:spPr>
          <a:xfrm>
            <a:off x="402336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2A7F8E"/>
                </a:solidFill>
                <a:latin typeface="Arial"/>
              </a:rPr>
              <a:t>GOOGLE CLOUD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2336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Firestore + Storage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02336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Cases, extractions, memos, objections, decisions, audit, traces; documents.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2441448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2" name="TextBox 141"/>
          <p:cNvSpPr txBox="1"/>
          <p:nvPr/>
        </p:nvSpPr>
        <p:spPr>
          <a:xfrm>
            <a:off x="2569464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2569464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Deterministic tools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569464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Cash-flow model, balance chain, image hash, PDF text-layer cross-check, date and entity checks.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08576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736592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PYTHON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736592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LLM cache, budget cap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736592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Content-hash cache per model and prompt version; hard USD cap per process.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6775704" y="3172968"/>
            <a:ext cx="2075688" cy="141732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0" name="TextBox 149"/>
          <p:cNvSpPr txBox="1"/>
          <p:nvPr/>
        </p:nvSpPr>
        <p:spPr>
          <a:xfrm>
            <a:off x="6903720" y="3264408"/>
            <a:ext cx="1819656" cy="22860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50" b="1" i="0">
                <a:solidFill>
                  <a:srgbClr val="E0A100"/>
                </a:solidFill>
                <a:latin typeface="Arial"/>
              </a:rPr>
              <a:t>INTEGRATION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03720" y="3474720"/>
            <a:ext cx="1819656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50" b="1" i="0">
                <a:solidFill>
                  <a:srgbClr val="0F3D4C"/>
                </a:solidFill>
                <a:latin typeface="Arial"/>
              </a:rPr>
              <a:t>REST API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903720" y="3831335"/>
            <a:ext cx="1819656" cy="7315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0" i="0">
                <a:solidFill>
                  <a:srgbClr val="5F6368"/>
                </a:solidFill>
                <a:latin typeface="Arial"/>
              </a:rPr>
              <a:t>Any loan origination system can create cases, run stages and read memos.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74320" y="4709160"/>
            <a:ext cx="85953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00" b="0" i="1">
                <a:solidFill>
                  <a:srgbClr val="5F6368"/>
                </a:solidFill>
                <a:latin typeface="Arial"/>
              </a:rPr>
              <a:t>Output schema requires source {doc_id, page, bbox} on every value. No separate OCR engine: pages are rendered to images and read by Gemini.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274320" y="1143000"/>
            <a:ext cx="85953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1" i="0">
                <a:solidFill>
                  <a:srgbClr val="0F3D4C"/>
                </a:solidFill>
                <a:latin typeface="Arial"/>
              </a:rPr>
              <a:t>Cheap enough for small loans: about USD 0.10 per case on Flash, zero on a re-run</a:t>
            </a:r>
          </a:p>
        </p:txBody>
      </p:sp>
      <p:graphicFrame>
        <p:nvGraphicFramePr>
          <p:cNvPr id="129" name="Chart 128"/>
          <p:cNvGraphicFramePr>
            <a:graphicFrameLocks noGrp="1"/>
          </p:cNvGraphicFramePr>
          <p:nvPr/>
        </p:nvGraphicFramePr>
        <p:xfrm>
          <a:off x="274320" y="1600200"/>
          <a:ext cx="5212080" cy="3200400"/>
        </p:xfrm>
        <a:graphic>
          <a:graphicData uri="http://schemas.openxmlformats.org/drawingml/2006/chart">
            <c:chart r:id="rId5"/>
          </a:graphicData>
        </a:graphic>
      </p:graphicFrame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5760720" y="1645920"/>
          <a:ext cx="3108959" cy="3108959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874519"/>
              </a:tblGrid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Assumption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3.8 Flash list price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0.75 / 3.75 per 1M tokens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Gemini 3.1 Pro list price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USD 2.00 / 12.00 per 1M tokens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Tokens per 20-document case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60-90k input, 15-25k output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Hosting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Cloud Run scales to zero; Firestore and Storage in free tier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Guardrail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Budget-cap env var stops Gemini calls once spent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r>
                        <a:rPr sz="850" b="1">
                          <a:solidFill>
                            <a:srgbClr val="202124"/>
                          </a:solidFill>
                          <a:latin typeface="Arial"/>
                        </a:rPr>
                        <a:t>Build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850" b="0">
                          <a:solidFill>
                            <a:srgbClr val="202124"/>
                          </a:solidFill>
                          <a:latin typeface="Arial"/>
                        </a:rPr>
                        <a:t>4 engineers, 4 days, free tier and trial credits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v2_newcas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2852928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7" name="Rounded Rectangle 136"/>
          <p:cNvSpPr/>
          <p:nvPr/>
        </p:nvSpPr>
        <p:spPr>
          <a:xfrm>
            <a:off x="34747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pic>
        <p:nvPicPr>
          <p:cNvPr id="138" name="Picture 137" descr="v2_evidence_c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29000" y="118872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39" name="Rounded Rectangle 138"/>
          <p:cNvSpPr/>
          <p:nvPr/>
        </p:nvSpPr>
        <p:spPr>
          <a:xfrm>
            <a:off x="3502152" y="12618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pic>
        <p:nvPicPr>
          <p:cNvPr id="140" name="Picture 139" descr="v2_receipt_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7432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1" name="Rounded Rectangle 140"/>
          <p:cNvSpPr/>
          <p:nvPr/>
        </p:nvSpPr>
        <p:spPr>
          <a:xfrm>
            <a:off x="34747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142" name="Picture 141" descr="v2_decision_c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429000" y="3108960"/>
            <a:ext cx="2449797" cy="178308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143" name="Rounded Rectangle 142"/>
          <p:cNvSpPr/>
          <p:nvPr/>
        </p:nvSpPr>
        <p:spPr>
          <a:xfrm>
            <a:off x="3502152" y="318211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629400" y="1207008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949440" y="1152144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New case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629400" y="1499616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Applicant details, then the raw documents. Intake classifies and quality-flags them.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6629400" y="2176272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6949440" y="2121408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Click a number, see the line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629400" y="2468880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Evidence panel with computation and all sources; the statement opens with the bounding box highlighted.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6629400" y="3145536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949440" y="3090672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Challenger objections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629400" y="3438144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Critical: two receipt photos are the same image with an edited date. Evidence chips open the photo.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629400" y="4114800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E0A100"/>
          </a:solidFill>
          <a:ln>
            <a:noFill/>
          </a:ln>
          <a:effectLst/>
        </p:spPr>
        <p:txBody>
          <a:bodyPr rtlCol="0" anchor="ctr" lIns="36576" rIns="36576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6949440" y="4059936"/>
            <a:ext cx="1920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1" i="0">
                <a:solidFill>
                  <a:srgbClr val="0F3D4C"/>
                </a:solidFill>
                <a:latin typeface="Arial"/>
              </a:rPr>
              <a:t>The underwriter signs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6629400" y="4407408"/>
            <a:ext cx="2240280" cy="6583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850" b="0" i="0">
                <a:solidFill>
                  <a:srgbClr val="5F6368"/>
                </a:solidFill>
                <a:latin typeface="Arial"/>
              </a:rPr>
              <a:t>Outcome, conditions and rationale, written to the audit log; accept/dismiss rates re-weight the checks.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 / 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274320" y="1115568"/>
            <a:ext cx="85953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F3D4C"/>
                </a:solidFill>
                <a:latin typeface="Arial"/>
              </a:rPr>
              <a:t>19 of 20 planted traps caught, zero unsourced numbers. A single prompt on the same documents caught none.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274320" y="1783080"/>
            <a:ext cx="4114800" cy="1828800"/>
          </a:xfrm>
          <a:prstGeom prst="roundRect">
            <a:avLst>
              <a:gd name="adj" fmla="val 6000"/>
            </a:avLst>
          </a:prstGeom>
          <a:solidFill>
            <a:srgbClr val="FFF3CC"/>
          </a:solidFill>
          <a:ln w="19050">
            <a:solidFill>
              <a:srgbClr val="E0A10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46" name="TextBox 145"/>
          <p:cNvSpPr txBox="1"/>
          <p:nvPr/>
        </p:nvSpPr>
        <p:spPr>
          <a:xfrm>
            <a:off x="411480" y="182880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E0A100"/>
                </a:solidFill>
                <a:latin typeface="Arial"/>
              </a:rPr>
              <a:t>LEDGERLENS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11480" y="2057400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0F3D4C"/>
                </a:solidFill>
                <a:latin typeface="Arial"/>
              </a:rPr>
              <a:t>19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11480" y="31546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202124"/>
                </a:solidFill>
                <a:latin typeface="Arial"/>
              </a:rPr>
              <a:t>of 20 traps caught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2514600" y="1828800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00" b="1" i="0">
                <a:solidFill>
                  <a:srgbClr val="5F6368"/>
                </a:solidFill>
                <a:latin typeface="Arial"/>
              </a:rPr>
              <a:t>SINGLE PROMPT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514600" y="2057400"/>
            <a:ext cx="1828800" cy="109728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7200" b="1" i="0">
                <a:solidFill>
                  <a:srgbClr val="B0B8BE"/>
                </a:solidFill>
                <a:latin typeface="Arial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514600" y="315468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1100" b="0" i="0">
                <a:solidFill>
                  <a:srgbClr val="5F6368"/>
                </a:solidFill>
                <a:latin typeface="Arial"/>
              </a:rPr>
              <a:t>same documents, one prompt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7432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3" name="TextBox 152"/>
          <p:cNvSpPr txBox="1"/>
          <p:nvPr/>
        </p:nvSpPr>
        <p:spPr>
          <a:xfrm>
            <a:off x="38404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0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38404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unsourced numbers (baseline: 6)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377440" y="3749039"/>
            <a:ext cx="201168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56" name="TextBox 155"/>
          <p:cNvSpPr txBox="1"/>
          <p:nvPr/>
        </p:nvSpPr>
        <p:spPr>
          <a:xfrm>
            <a:off x="2487168" y="3794760"/>
            <a:ext cx="1828800" cy="54864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3000" b="1" i="0">
                <a:solidFill>
                  <a:srgbClr val="0F3D4C"/>
                </a:solidFill>
                <a:latin typeface="Arial"/>
              </a:rPr>
              <a:t>4.5 s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2487168" y="4343400"/>
            <a:ext cx="1828800" cy="50292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per case, USD 0.00 on cached run</a:t>
            </a:r>
          </a:p>
        </p:txBody>
      </p:sp>
      <p:graphicFrame>
        <p:nvGraphicFramePr>
          <p:cNvPr id="158" name="Table 157"/>
          <p:cNvGraphicFramePr>
            <a:graphicFrameLocks noGrp="1"/>
          </p:cNvGraphicFramePr>
          <p:nvPr/>
        </p:nvGraphicFramePr>
        <p:xfrm>
          <a:off x="4572000" y="1783080"/>
          <a:ext cx="4297680" cy="2103115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103120"/>
                <a:gridCol w="1005840"/>
                <a:gridCol w="1188720"/>
              </a:tblGrid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</a:p>
                  </a:txBody>
                  <a:tcPr marL="54864" marR="54864" marT="27432" marB="27432" anchor="ctr">
                    <a:solidFill>
                      <a:srgbClr val="0F3D4C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Trap recall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16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19 / 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Unsourced numbers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Objections on clean case 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20%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Extraction row accuracy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97%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Evidence-link accuracy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≥ 95%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202124"/>
                          </a:solidFill>
                          <a:latin typeface="Arial"/>
                        </a:rPr>
                        <a:t>Time per case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≤ 180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202124"/>
                          </a:solidFill>
                          <a:latin typeface="Arial"/>
                        </a:rPr>
                        <a:t>4.5 s</a:t>
                      </a:r>
                    </a:p>
                  </a:txBody>
                  <a:tcPr marL="54864" marR="54864" marT="27432" marB="27432" anchor="ctr">
                    <a:solidFill>
                      <a:srgbClr val="F7F9FA"/>
                    </a:solidFill>
                  </a:tcPr>
                </a:tc>
              </a:tr>
            </a:tbl>
          </a:graphicData>
        </a:graphic>
      </p:graphicFrame>
      <p:sp>
        <p:nvSpPr>
          <p:cNvPr id="159" name="Rounded Rectangle 158"/>
          <p:cNvSpPr/>
          <p:nvPr/>
        </p:nvSpPr>
        <p:spPr>
          <a:xfrm>
            <a:off x="4572000" y="4023360"/>
            <a:ext cx="4297680" cy="8686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0" name="TextBox 159"/>
          <p:cNvSpPr txBox="1"/>
          <p:nvPr/>
        </p:nvSpPr>
        <p:spPr>
          <a:xfrm>
            <a:off x="4681728" y="4059936"/>
            <a:ext cx="4114800" cy="822960"/>
          </a:xfrm>
          <a:prstGeom prst="rect">
            <a:avLst/>
          </a:prstGeom>
          <a:noFill/>
        </p:spPr>
        <p:txBody>
          <a:bodyPr wrap="square" anchor="t" lIns="0" rIns="0" tIns="27432" bIns="27432">
            <a:spAutoFit/>
          </a:bodyPr>
          <a:lstStyle/>
          <a:p>
            <a:pPr algn="l"/>
            <a:r>
              <a:rPr sz="850" b="1" i="0">
                <a:solidFill>
                  <a:srgbClr val="202124"/>
                </a:solidFill>
                <a:latin typeface="Arial"/>
              </a:rPr>
              <a:t>How measured. </a:t>
            </a:r>
            <a:r>
              <a:rPr sz="850" b="0" i="0">
                <a:solidFill>
                  <a:srgbClr val="202124"/>
                </a:solidFill>
                <a:latin typeface="Arial"/>
              </a:rPr>
              <a:t>Run of 2026-10-14 in mock mode: full pipeline plus the deterministic Challenger battery, 3 synthetic businesses, 43 documents, answer key traps.json. Baseline is a stub in this mode; a live Gemini 3.8 Flash run replaces both before submission.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 / Future development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52" name="Picture 151" descr="road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245927"/>
          </a:xfrm>
          <a:prstGeom prst="rect">
            <a:avLst/>
          </a:prstGeom>
        </p:spPr>
      </p:pic>
      <p:sp>
        <p:nvSpPr>
          <p:cNvPr id="153" name="TextBox 152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Humans decide, every figure and decision is traceable, the prototype uses watermarked synthetic data only, and production keeps documents and model endpoints in-region.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/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Rounded Rectangle 159"/>
          <p:cNvSpPr/>
          <p:nvPr/>
        </p:nvSpPr>
        <p:spPr>
          <a:xfrm>
            <a:off x="274320" y="1188720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1" name="TextBox 160"/>
          <p:cNvSpPr txBox="1"/>
          <p:nvPr/>
        </p:nvSpPr>
        <p:spPr>
          <a:xfrm>
            <a:off x="457200" y="13258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GitHub public repository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457200" y="1783080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github.com/changhyeonnam/ghack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749039" y="1325880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English README, architecture, run instructions, synthetic-data notice, presentation/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274320" y="2404872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5" name="TextBox 164"/>
          <p:cNvSpPr txBox="1"/>
          <p:nvPr/>
        </p:nvSpPr>
        <p:spPr>
          <a:xfrm>
            <a:off x="457200" y="2542032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Demo video (3 to 4 minutes)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457200" y="2999232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YouTube public link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749039" y="2542032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Problem in 20 seconds, click-to-source and Challenger scenes, benchmark near the end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74320" y="3621024"/>
            <a:ext cx="8595360" cy="1097280"/>
          </a:xfrm>
          <a:prstGeom prst="roundRect">
            <a:avLst>
              <a:gd name="adj" fmla="val 6000"/>
            </a:avLst>
          </a:prstGeom>
          <a:solidFill>
            <a:srgbClr val="F7F9FA"/>
          </a:solidFill>
          <a:ln w="12700">
            <a:solidFill>
              <a:srgbClr val="D5DBDE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169" name="TextBox 168"/>
          <p:cNvSpPr txBox="1"/>
          <p:nvPr/>
        </p:nvSpPr>
        <p:spPr>
          <a:xfrm>
            <a:off x="457200" y="3758184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 i="0">
                <a:solidFill>
                  <a:srgbClr val="0F3D4C"/>
                </a:solidFill>
                <a:latin typeface="Arial"/>
              </a:rPr>
              <a:t>Final product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457200" y="4215384"/>
            <a:ext cx="31089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 i="0">
                <a:solidFill>
                  <a:srgbClr val="2A7F8E"/>
                </a:solidFill>
                <a:latin typeface="Arial"/>
              </a:rPr>
              <a:t>ledgerlens-&lt;hash&gt;.a.run.app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749039" y="3758184"/>
            <a:ext cx="4937760" cy="8686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150" b="0" i="0">
                <a:solidFill>
                  <a:srgbClr val="5F6368"/>
                </a:solidFill>
                <a:latin typeface="Arial"/>
              </a:rPr>
              <a:t>Cloud Run service, three demo cases preloaded, warm through evaluation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74320" y="4846320"/>
            <a:ext cx="859536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1">
                <a:solidFill>
                  <a:srgbClr val="5F6368"/>
                </a:solidFill>
                <a:latin typeface="Arial"/>
              </a:rPr>
              <a:t>Links are inserted at submission on 18 October 2026.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the Challenger's 12 fixed checks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7" name="Picture 166" descr="checks_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320" y="1188720"/>
            <a:ext cx="8595360" cy="3608601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Appendix: portfolio, cash flow and audit views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72" name="Picture 71" descr="v2_portfoli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2779776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3" name="TextBox 72"/>
          <p:cNvSpPr txBox="1"/>
          <p:nvPr/>
        </p:nvSpPr>
        <p:spPr>
          <a:xfrm>
            <a:off x="274320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Portfolio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74320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Cases in review, open objections and unsourced numbers across the book; filters by status.</a:t>
            </a:r>
          </a:p>
        </p:txBody>
      </p:sp>
      <p:pic>
        <p:nvPicPr>
          <p:cNvPr id="75" name="Picture 74" descr="v2_cashflow_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753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6" name="TextBox 75"/>
          <p:cNvSpPr txBox="1"/>
          <p:nvPr/>
        </p:nvSpPr>
        <p:spPr>
          <a:xfrm>
            <a:off x="317753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Cash flow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7753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Deterministic monthly model: inflow, net, trend, volatility, end-of-month share, repayment capacity.</a:t>
            </a:r>
          </a:p>
        </p:txBody>
      </p:sp>
      <p:pic>
        <p:nvPicPr>
          <p:cNvPr id="78" name="Picture 77" descr="v2_audit_c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0759" y="1188720"/>
            <a:ext cx="2386982" cy="1737360"/>
          </a:xfrm>
          <a:prstGeom prst="rect">
            <a:avLst/>
          </a:prstGeom>
          <a:ln w="9525">
            <a:solidFill>
              <a:srgbClr val="D5DBDE"/>
            </a:solidFill>
          </a:ln>
        </p:spPr>
      </p:pic>
      <p:sp>
        <p:nvSpPr>
          <p:cNvPr id="79" name="TextBox 78"/>
          <p:cNvSpPr txBox="1"/>
          <p:nvPr/>
        </p:nvSpPr>
        <p:spPr>
          <a:xfrm>
            <a:off x="6080759" y="3017520"/>
            <a:ext cx="2788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1" i="0">
                <a:solidFill>
                  <a:srgbClr val="0F3D4C"/>
                </a:solidFill>
                <a:latin typeface="Arial"/>
              </a:rPr>
              <a:t>Audit timeline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80759" y="3337560"/>
            <a:ext cx="27889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0">
                <a:solidFill>
                  <a:srgbClr val="5F6368"/>
                </a:solidFill>
                <a:latin typeface="Arial"/>
              </a:rPr>
              <a:t>Every stage and agent call with version, model and prompt; the trail a regulator can read.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74320" y="4389120"/>
            <a:ext cx="85953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950" b="0" i="1">
                <a:solidFill>
                  <a:srgbClr val="5F6368"/>
                </a:solidFill>
                <a:latin typeface="Arial"/>
              </a:rPr>
              <a:t>Also in the build: dark and light themes, PDF text-layer cross-check on every extracted amount, content-hash LLM cache, cache_only demo mode, budget cap, printable paper memo with footnoted sources.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