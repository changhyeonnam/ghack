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2" r:id="rId28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3" r:id="rId2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2.xml"/><Relationship Id="rId29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0F3D4C"/>
                </a:solidFill>
                <a:latin typeface="Arial"/>
              </a:rPr>
              <a:t>Cost per case, USD (gemini-3.8-flash, live run 2026-10-15)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per case</c:v>
                </c:pt>
              </c:strCache>
            </c:strRef>
          </c:tx>
          <c:spPr>
            <a:solidFill>
              <a:srgbClr val="2A7F8E"/>
            </a:solidFill>
          </c:spPr>
          <c:dPt>
            <c:idx val="0"/>
            <c:spPr>
              <a:solidFill>
                <a:srgbClr val="E0A100"/>
              </a:solidFill>
            </c:spPr>
          </c:dPt>
          <c:dPt>
            <c:idx val="1"/>
            <c:spPr>
              <a:solidFill>
                <a:srgbClr val="E0A100"/>
              </a:solidFill>
            </c:spPr>
          </c:dPt>
          <c:dPt>
            <c:idx val="2"/>
            <c:spPr>
              <a:solidFill>
                <a:srgbClr val="B0B8BE"/>
              </a:solidFill>
            </c:spPr>
          </c:dPt>
          <c:cat>
            <c:strRef>
              <c:f>Sheet1!$A$2:$A$5</c:f>
              <c:strCache>
                <c:ptCount val="4"/>
                <c:pt idx="0">
                  <c:v>LedgerLens cold run, case B (14 docs)</c:v>
                </c:pt>
                <c:pt idx="1">
                  <c:v>LedgerLens cold run, case C (11 docs)</c:v>
                </c:pt>
                <c:pt idx="2">
                  <c:v>Single-prompt baseline (no checks)</c:v>
                </c:pt>
                <c:pt idx="3">
                  <c:v>LedgerLens cached re-run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0.306</c:v>
                </c:pt>
                <c:pt idx="1">
                  <c:v>0.257</c:v>
                </c:pt>
                <c:pt idx="2">
                  <c:v>0.015</c:v>
                </c:pt>
                <c:pt idx="3">
                  <c:v>0.0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50" b="1">
                  <a:solidFill>
                    <a:srgbClr val="0F3D4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DE"/>
            </a:solidFill>
          </a:ln>
        </c:spPr>
        <c:txPr>
          <a:bodyPr/>
          <a:lstStyle/>
          <a:p>
            <a:pPr>
              <a:defRPr sz="950">
                <a:solidFill>
                  <a:srgbClr val="20212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jpg"/><Relationship Id="rId6" Type="http://schemas.openxmlformats.org/officeDocument/2006/relationships/image" Target="../media/image6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Team name: Hey Merlion!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Team leader name: Changhyeon Nam (team: Changhyeon Nam, Hyunho Yang)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Google Sans Flex"/>
                <a:cs typeface="Google Sans Flex"/>
                <a:sym typeface="Google Sans Flex"/>
              </a:rPr>
              <a:t>Problem Statement: BFSI: Intelligent Risk, Fraud &amp; Financial Experiences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Why this matters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2A7F8E"/>
                </a:solidFill>
                <a:latin typeface="Arial"/>
              </a:rPr>
              <a:t>SOUTHEAST ASIA'S SMALL BUSINESSES RUN THE ECONOMY BUT CANNOT BORROW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132588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600" b="1" i="0">
                <a:solidFill>
                  <a:srgbClr val="E0A100"/>
                </a:solidFill>
                <a:latin typeface="Arial"/>
              </a:rPr>
              <a:t>8.8%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278892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700" b="1" i="0">
                <a:solidFill>
                  <a:srgbClr val="0F3D4C"/>
                </a:solidFill>
                <a:latin typeface="Arial"/>
              </a:rPr>
              <a:t>of Vietnam's 914,000 SMEs have a bank loan.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342900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250" b="0" i="0">
                <a:solidFill>
                  <a:srgbClr val="5F6368"/>
                </a:solidFill>
                <a:latin typeface="Arial"/>
              </a:rPr>
              <a:t>Large enterprises: 47.1%. The same small firms employ most of the region.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92608" y="4160520"/>
            <a:ext cx="3895344" cy="566928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411480" y="4242816"/>
            <a:ext cx="1550456" cy="164592"/>
          </a:xfrm>
          <a:prstGeom prst="roundRect">
            <a:avLst>
              <a:gd name="adj" fmla="val 10000"/>
            </a:avLst>
          </a:prstGeom>
          <a:solidFill>
            <a:srgbClr val="2A7F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007656" y="420624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</a:rPr>
              <a:t>47.1% large firms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" y="4480560"/>
            <a:ext cx="289681" cy="164592"/>
          </a:xfrm>
          <a:prstGeom prst="roundRect">
            <a:avLst>
              <a:gd name="adj" fmla="val 1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46881" y="444398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</a:rPr>
              <a:t>8.8% SMEs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480560" y="1371600"/>
            <a:ext cx="43891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590288" y="1463040"/>
            <a:ext cx="1325880" cy="8686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400" b="1" i="0">
                <a:solidFill>
                  <a:srgbClr val="0F3D4C"/>
                </a:solidFill>
                <a:latin typeface="Arial"/>
              </a:rPr>
              <a:t>75.5%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0" y="1444752"/>
            <a:ext cx="2834640" cy="9144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050" b="0" i="0">
                <a:solidFill>
                  <a:srgbClr val="202124"/>
                </a:solidFill>
                <a:latin typeface="Arial"/>
              </a:rPr>
              <a:t>of Vietnamese firms cannot borrow without collateral. What they have is PDFs, screenshots and paper receipts.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480560" y="2487168"/>
            <a:ext cx="43891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4590288" y="2578608"/>
            <a:ext cx="1325880" cy="8686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400" b="1" i="0">
                <a:solidFill>
                  <a:srgbClr val="0F3D4C"/>
                </a:solidFill>
                <a:latin typeface="Arial"/>
              </a:rPr>
              <a:t>70%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0" y="2560320"/>
            <a:ext cx="2834640" cy="9144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050" b="0" i="0">
                <a:solidFill>
                  <a:srgbClr val="202124"/>
                </a:solidFill>
                <a:latin typeface="Arial"/>
              </a:rPr>
              <a:t>of emerging-market MSMEs lack adequate financing. Reading their records by hand costs more than a small loan earns.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480560" y="3602735"/>
            <a:ext cx="4389120" cy="1024128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590288" y="3694175"/>
            <a:ext cx="1325880" cy="8686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300" b="1" i="0">
                <a:solidFill>
                  <a:srgbClr val="0F3D4C"/>
                </a:solidFill>
                <a:latin typeface="Arial"/>
              </a:rPr>
              <a:t>The opening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0" y="3675887"/>
            <a:ext cx="2834640" cy="9144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050" b="0" i="0">
                <a:solidFill>
                  <a:srgbClr val="202124"/>
                </a:solidFill>
                <a:latin typeface="Arial"/>
              </a:rPr>
              <a:t>VPBank, Vietcombank and Agribank are moving from collateral to cash-flow lending. Someone still has to read the cash flow. LedgerLens makes that reading fast, sourced and auditable.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750" b="0" i="1">
                <a:solidFill>
                  <a:srgbClr val="5F6368"/>
                </a:solidFill>
                <a:latin typeface="Arial"/>
              </a:rPr>
              <a:t>Sources: FiinGroup via Viet Nam News (Aug 2026) · VCCI Private Economic Report 2025 · IFC MSME Finance · VTV (May 2026) · ADB Asia SME Monitor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4320" y="114300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0F3D4C"/>
                </a:solidFill>
                <a:latin typeface="Arial"/>
              </a:rPr>
              <a:t>LedgerLens turns a shoebox of receipts, screenshots and bank PDFs into a credit memo a bank can trust.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210312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438912" y="22677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" y="224028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600" b="1" i="0">
                <a:solidFill>
                  <a:srgbClr val="0F3D4C"/>
                </a:solidFill>
                <a:latin typeface="Arial"/>
              </a:rPr>
              <a:t>Read with evidence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2" y="2788920"/>
            <a:ext cx="2368296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Arial"/>
              </a:rPr>
              <a:t>Gemini reads every document. Every value carries document id, page and bounding box. Python computes the cash flow. A memo with unsourced numbers is rejected and regenerated.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3008376" y="3044952"/>
            <a:ext cx="182880" cy="256032"/>
          </a:xfrm>
          <a:prstGeom prst="rightArrow">
            <a:avLst/>
          </a:prstGeom>
          <a:solidFill>
            <a:srgbClr val="B9C6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223260" y="210312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3387852" y="22677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3339" y="224028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600" b="1" i="0">
                <a:solidFill>
                  <a:srgbClr val="0F3D4C"/>
                </a:solidFill>
                <a:latin typeface="Arial"/>
              </a:rPr>
              <a:t>Challenge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7852" y="2788920"/>
            <a:ext cx="2368296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Arial"/>
              </a:rPr>
              <a:t>A second agent that never sees the first one's prompt runs 12 underwriting checks against the memo and raises severity-ranked objections with evidence.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5957316" y="3044952"/>
            <a:ext cx="182880" cy="256032"/>
          </a:xfrm>
          <a:prstGeom prst="rightArrow">
            <a:avLst/>
          </a:prstGeom>
          <a:solidFill>
            <a:srgbClr val="B9C6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172200" y="210312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6336792" y="22677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2280" y="224028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600" b="1" i="0">
                <a:solidFill>
                  <a:srgbClr val="0F3D4C"/>
                </a:solidFill>
                <a:latin typeface="Arial"/>
              </a:rPr>
              <a:t>Human signs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36792" y="2788920"/>
            <a:ext cx="2368296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Arial"/>
              </a:rPr>
              <a:t>The underwriter accepts or dismisses each objection and signs. Every decision is logged and re-weights the next Challenger run. The applicant gets the reasons in their own language.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0F3D4C"/>
                </a:solidFill>
                <a:latin typeface="Arial"/>
              </a:rPr>
              <a:t>Not a score. A memo. </a:t>
            </a:r>
            <a:r>
              <a:rPr sz="1300" b="0" i="0">
                <a:solidFill>
                  <a:srgbClr val="5F6368"/>
                </a:solidFill>
                <a:latin typeface="Arial"/>
              </a:rPr>
              <a:t>AI does the reading and the arguing; the underwriter keeps the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 i="0">
                <a:solidFill>
                  <a:srgbClr val="0F3D4C"/>
                </a:solidFill>
                <a:latin typeface="Arial"/>
              </a:rPr>
              <a:t>Same documents. About 2 minutes per file. Every number defensible.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74320" y="164592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38912" y="17373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800" b="1" i="0">
                <a:solidFill>
                  <a:srgbClr val="0F3D4C"/>
                </a:solidFill>
                <a:latin typeface="Arial"/>
              </a:rPr>
              <a:t>~2 min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8912" y="24871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0" i="0">
                <a:solidFill>
                  <a:srgbClr val="5F6368"/>
                </a:solidFill>
                <a:latin typeface="Arial"/>
              </a:rPr>
              <a:t>per file, end to end (measured, live Gemini)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0400" y="164592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3364992" y="17373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800" b="1" i="0">
                <a:solidFill>
                  <a:srgbClr val="0F3D4C"/>
                </a:solidFill>
                <a:latin typeface="Arial"/>
              </a:rPr>
              <a:t>~0.28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64992" y="24871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0" i="0">
                <a:solidFill>
                  <a:srgbClr val="5F6368"/>
                </a:solidFill>
                <a:latin typeface="Arial"/>
              </a:rPr>
              <a:t>USD per case on a cold run; USD 0 on a cached re-run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26480" y="164592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291072" y="17373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800" b="1" i="0">
                <a:solidFill>
                  <a:srgbClr val="0F3D4C"/>
                </a:solidFill>
                <a:latin typeface="Arial"/>
              </a:rPr>
              <a:t>0 vs 62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91072" y="24871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0" i="0">
                <a:solidFill>
                  <a:srgbClr val="5F6368"/>
                </a:solidFill>
                <a:latin typeface="Arial"/>
              </a:rPr>
              <a:t>unsourced numbers in the memo: LedgerLens vs a single prompt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74320" y="3017520"/>
            <a:ext cx="4206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438912" y="30906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</a:rPr>
              <a:t>How it is different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912" y="347472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202124"/>
                </a:solidFill>
                <a:latin typeface="Arial"/>
              </a:rPr>
              <a:t>Writer and verifier are separate agents, so the memo is never graded by its author</a:t>
            </a:r>
          </a:p>
          <a:p>
            <a:pPr algn="l"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202124"/>
                </a:solidFill>
                <a:latin typeface="Arial"/>
              </a:rPr>
              <a:t>Figures are computed by code and linked to their source line, not generated</a:t>
            </a:r>
          </a:p>
          <a:p>
            <a:pPr algn="l"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202124"/>
                </a:solidFill>
                <a:latin typeface="Arial"/>
              </a:rPr>
              <a:t>Underwriter decisions re-rank the next Challenger run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63440" y="3017520"/>
            <a:ext cx="4206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4828031" y="30906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</a:rPr>
              <a:t>Who benefits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28031" y="347472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202124"/>
                </a:solidFill>
                <a:latin typeface="Arial"/>
              </a:rPr>
              <a:t>Small businesses with records but no credit file get assessed on cash flow, not collateral</a:t>
            </a:r>
          </a:p>
          <a:p>
            <a:pPr algn="l"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202124"/>
                </a:solidFill>
                <a:latin typeface="Arial"/>
              </a:rPr>
              <a:t>A declined applicant receives the reasons, in their own language</a:t>
            </a:r>
          </a:p>
          <a:p>
            <a:pPr algn="l"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202124"/>
                </a:solidFill>
                <a:latin typeface="Arial"/>
              </a:rPr>
              <a:t>Lenders can offer small-ticket loans that were uneconomic to underwrite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F3D4C"/>
                </a:solidFill>
                <a:latin typeface="Arial"/>
              </a:rPr>
              <a:t>Every feature hangs on one pipeline, and the pipeline ends with a person.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4320" y="1810512"/>
            <a:ext cx="8595360" cy="36576"/>
          </a:xfrm>
          <a:prstGeom prst="roundRect">
            <a:avLst>
              <a:gd name="adj" fmla="val 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365760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Intake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74320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65760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Multimodal intake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2971800"/>
            <a:ext cx="966651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PDF, screenshots, photos. Classified and quality-flagged.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606731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Extract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15291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606731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Evidence-linked extraction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6731" y="2971800"/>
            <a:ext cx="966651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Doc id, page, bbox on every value. PDF text layer verifies it.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847702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Cash flow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756262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47702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Deterministic model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47702" y="2971800"/>
            <a:ext cx="966651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Inflow, outflow, trend, volatility, debt service. Python, not the model.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088674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997234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088674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Clickable memo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88674" y="2971800"/>
            <a:ext cx="966651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Cites catalog figures only. Click one, the source line opens.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329645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0F3D4C"/>
                </a:solidFill>
                <a:latin typeface="Arial"/>
              </a:rPr>
              <a:t>Challenge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238205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5329645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Battery + 12 checks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29645" y="2971800"/>
            <a:ext cx="966651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Image hash, balance chain, dates. Ranked objections with evidence.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570617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79177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70617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Underwriter workbench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70617" y="2971800"/>
            <a:ext cx="966651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Accept or dismiss, sign. Audit log. Decisions re-weight the checks.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811588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720148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811588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Letter and paper memo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811588" y="2971800"/>
            <a:ext cx="966651" cy="1600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Customer letter in the local language. Memo prints with footnoted sources.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1" i="0">
                <a:solidFill>
                  <a:srgbClr val="0F3D4C"/>
                </a:solidFill>
                <a:latin typeface="Arial"/>
              </a:rPr>
              <a:t>Out of scope by design: </a:t>
            </a:r>
            <a:r>
              <a:rPr sz="950" b="0" i="0">
                <a:solidFill>
                  <a:srgbClr val="5F6368"/>
                </a:solidFill>
                <a:latin typeface="Arial"/>
              </a:rPr>
              <a:t>credit scoring, loan pricing, core-banking integration. LedgerLens informs the decision; it does not make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process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70432"/>
            <a:ext cx="8173783" cy="347472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Three lanes: the loan officer uploads, the agents read and challenge, the underwriter decides. Decisions flow back into the Challenger's priorities.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74320" y="1078992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2A7F8E"/>
                </a:solidFill>
                <a:latin typeface="Arial"/>
              </a:rPr>
              <a:t>THE PRODUCT IN ONE INTERACTION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12801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2600" b="1" i="0">
                <a:solidFill>
                  <a:srgbClr val="0F3D4C"/>
                </a:solidFill>
                <a:latin typeface="Arial"/>
              </a:rPr>
              <a:t>Click the number. See the line.</a:t>
            </a:r>
          </a:p>
        </p:txBody>
      </p:sp>
      <p:pic>
        <p:nvPicPr>
          <p:cNvPr id="106" name="Picture 105" descr="v2_evidence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783080"/>
            <a:ext cx="4271441" cy="31089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07" name="Rounded Rectangle 106"/>
          <p:cNvSpPr/>
          <p:nvPr/>
        </p:nvSpPr>
        <p:spPr>
          <a:xfrm>
            <a:off x="1137434" y="213253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0F3D4C"/>
                </a:solidFill>
                <a:latin typeface="Arial"/>
              </a:rPr>
              <a:t>1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286397" y="224067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0F3D4C"/>
                </a:solidFill>
                <a:latin typeface="Arial"/>
              </a:rPr>
              <a:t>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38256" y="244343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0F3D4C"/>
                </a:solidFill>
                <a:latin typeface="Arial"/>
              </a:rPr>
              <a:t>3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754880" y="178308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1" name="Rounded Rectangle 110"/>
          <p:cNvSpPr/>
          <p:nvPr/>
        </p:nvSpPr>
        <p:spPr>
          <a:xfrm>
            <a:off x="4882896" y="191109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3520" y="1874519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</a:rPr>
              <a:t>The memo cites a figure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82896" y="2240280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Every underlined value is a catalog figure with a source. Here: VND 82,500,000, credits from the applicant's own accounts.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754880" y="2834639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5" name="Rounded Rectangle 114"/>
          <p:cNvSpPr/>
          <p:nvPr/>
        </p:nvSpPr>
        <p:spPr>
          <a:xfrm>
            <a:off x="4882896" y="29626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03520" y="2926079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</a:rPr>
              <a:t>One click opens the evidence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82896" y="3291839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The computation (sum of 3 credits whose sender matches the account holder) and all 3 source references: pages 2, 4 and 5.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754880" y="388620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4882896" y="401421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0F3D4C"/>
                </a:solidFill>
                <a:latin typeface="Arial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03520" y="3977639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</a:rPr>
              <a:t>The source line lights up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82896" y="4343400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</a:rPr>
              <a:t>The statement page opens with the extractor's bounding box drawn on the exact row. A memo with an unsourced number is rejected and regenerated.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170432"/>
            <a:ext cx="7476118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F3D4C"/>
                </a:solidFill>
                <a:latin typeface="Arial"/>
              </a:rPr>
              <a:t>Gemini reads, ADK orchestrates, Python computes, Cloud Run serves.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74320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402336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</a:rPr>
              <a:t>GOOGLE CLOUD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336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Gemini 3.8 Flash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336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Default for every agent. Measured USD 0.26-0.31 per cold case; USD 0 cached.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441448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2569464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</a:rPr>
              <a:t>GOOGLE CLOUD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69464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Gemini 3.1 Pro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569464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One env var moves Extractor, Analyst and Challenger to Pro.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08576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4736592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</a:rPr>
              <a:t>GOOGLE CLOUD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36592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Agent Development Kit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36592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Intake, 5 Extractors, Analyst, Challenger (investigator and writer), Explainer.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775704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6903720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</a:rPr>
              <a:t>GOOGLE CLOUD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03720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Cloud Run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03720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One service: FastAPI, the ADK agents and the React workbench; scales to zero.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74320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402336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</a:rPr>
              <a:t>GOOGLE CLOUD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2336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Firestore + Storage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02336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Cases, extractions, memos, objections, decisions, audit, traces; documents.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441448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2569464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E0A100"/>
                </a:solidFill>
                <a:latin typeface="Arial"/>
              </a:rPr>
              <a:t>PYTHON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69464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Deterministic tools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569464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Cash-flow model, balance chain, image hash, PDF text-layer cross-check, date and entity checks.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08576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4736592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E0A100"/>
                </a:solidFill>
                <a:latin typeface="Arial"/>
              </a:rPr>
              <a:t>PYTHON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36592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LLM cache, budget cap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36592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Content-hash cache per model and prompt version; hard USD cap per process.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775704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6903720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E0A100"/>
                </a:solidFill>
                <a:latin typeface="Arial"/>
              </a:rPr>
              <a:t>INTEGRATION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03720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</a:rPr>
              <a:t>REST API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03720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</a:rPr>
              <a:t>Any loan origination system can create cases, run stages and read memos.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1">
                <a:solidFill>
                  <a:srgbClr val="5F6368"/>
                </a:solidFill>
                <a:latin typeface="Arial"/>
              </a:rPr>
              <a:t>Output schema requires source {doc_id, page, bbox} on every value. No separate OCR engine: pages are rendered to images and read by Gemini.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</a:rPr>
              <a:t>Measured: USD 0.26-0.31 per case on a cold Flash run, USD 0 on a cached re-run</a:t>
            </a:r>
          </a:p>
        </p:txBody>
      </p:sp>
      <p:graphicFrame>
        <p:nvGraphicFramePr>
          <p:cNvPr id="129" name="Chart 128"/>
          <p:cNvGraphicFramePr>
            <a:graphicFrameLocks noGrp="1"/>
          </p:cNvGraphicFramePr>
          <p:nvPr/>
        </p:nvGraphicFramePr>
        <p:xfrm>
          <a:off x="274320" y="1600200"/>
          <a:ext cx="5212080" cy="32004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5760720" y="1645920"/>
          <a:ext cx="3108959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874519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Gemini 3.8 Flash list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USD 0.75 / 3.75 per 1M tokens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Measured cold run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~2 min and USD 0.26-0.31 per case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Cached re-run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USD 0 (content-hash LLM cache)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Public demo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Replays the recorded live Gemini run, USD 0; only the customer letter calls Gemini (~USD 0.0015)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Hosting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Cloud Run scales to zero; Firestore and Storage in free tier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Guardrail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Budget-cap env var stops Gemini calls once spent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202124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202124"/>
                          </a:solidFill>
                          <a:latin typeface="Arial"/>
                        </a:rPr>
                        <a:t>2 engineers, 4 days, free tier and trial credits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v2_newcas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2852928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37" name="Rounded Rectangle 136"/>
          <p:cNvSpPr/>
          <p:nvPr/>
        </p:nvSpPr>
        <p:spPr>
          <a:xfrm>
            <a:off x="347472" y="12618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138" name="Picture 137" descr="v2_evidence_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18872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39" name="Rounded Rectangle 138"/>
          <p:cNvSpPr/>
          <p:nvPr/>
        </p:nvSpPr>
        <p:spPr>
          <a:xfrm>
            <a:off x="3502152" y="12618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140" name="Picture 139" descr="v2_receipt_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10896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41" name="Rounded Rectangle 140"/>
          <p:cNvSpPr/>
          <p:nvPr/>
        </p:nvSpPr>
        <p:spPr>
          <a:xfrm>
            <a:off x="347472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pic>
        <p:nvPicPr>
          <p:cNvPr id="142" name="Picture 141" descr="v2_decision_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10896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43" name="Rounded Rectangle 142"/>
          <p:cNvSpPr/>
          <p:nvPr/>
        </p:nvSpPr>
        <p:spPr>
          <a:xfrm>
            <a:off x="3502152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629400" y="1207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49440" y="1152144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New case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629400" y="1499616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Applicant details, then the raw documents. Intake classifies and quality-flags them.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629400" y="21762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949440" y="2121408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Click a number, see the line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629400" y="2468880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Evidence panel with computation and all sources; the statement opens with the bounding box highlighted.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629400" y="3145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49440" y="3090672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Challenger objections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629400" y="3438144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Critical: two receipt photos are the same image with an edited date. Evidence chips open the photo.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629400" y="41148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949440" y="4059936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</a:rPr>
              <a:t>The underwriter signs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629400" y="4407408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Outcome, conditions and rationale, written to the audit log; accept/dismiss rates re-weight the checks.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74320" y="1115568"/>
            <a:ext cx="85953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F3D4C"/>
                </a:solidFill>
                <a:latin typeface="Arial"/>
              </a:rPr>
              <a:t>18 of 20 planted traps caught on live Gemini output; a single prompt on the same documents caught 3.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74320" y="1783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411480" y="18288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E0A100"/>
                </a:solidFill>
                <a:latin typeface="Arial"/>
              </a:rPr>
              <a:t>LEDGERLENS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1480" y="205740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200" b="1" i="0">
                <a:solidFill>
                  <a:srgbClr val="0F3D4C"/>
                </a:solidFill>
                <a:latin typeface="Arial"/>
              </a:rPr>
              <a:t>18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31089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Arial"/>
              </a:rPr>
              <a:t>of 20 traps caught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95% Wilson CI 0.70-0.97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51460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5F6368"/>
                </a:solidFill>
                <a:latin typeface="Arial"/>
              </a:rPr>
              <a:t>SINGLE PROMPT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14600" y="20574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200" b="1" i="0">
                <a:solidFill>
                  <a:srgbClr val="B0B8BE"/>
                </a:solidFill>
                <a:latin typeface="Arial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514600" y="31089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Arial"/>
              </a:rPr>
              <a:t>of 20, same documents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</a:rPr>
              <a:t>and same model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74320" y="3749039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384048" y="37947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000" b="1" i="0">
                <a:solidFill>
                  <a:srgbClr val="0F3D4C"/>
                </a:solidFill>
                <a:latin typeface="Arial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84048" y="434340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unsourced numbers in the memo (single prompt: 62)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377440" y="3749039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2487168" y="37947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000" b="1" i="0">
                <a:solidFill>
                  <a:srgbClr val="0F3D4C"/>
                </a:solidFill>
                <a:latin typeface="Arial"/>
              </a:rPr>
              <a:t>~2 min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487168" y="434340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per case cold, USD 0.26-0.31; cached re-run USD 0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4572000" y="1783080"/>
          <a:ext cx="4297680" cy="205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14400"/>
                <a:gridCol w="1554480"/>
              </a:tblGrid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F3D4C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Trap recall (strict)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≥ 16 / 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18 / 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Unsourced numbers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 (single prompt: 62)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Objections on clean case 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≤ 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Extraction row accuracy*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≥ 97%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100% (481 / 481)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Evidence-link accuracy*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≥ 95%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Time per case (cold)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≤ 180 s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~2 min</a:t>
                      </a:r>
                    </a:p>
                  </a:txBody>
                  <a:tcPr marL="54864" marR="54864" marT="27432" marB="27432" anchor="ctr">
                    <a:solidFill>
                      <a:srgbClr val="F7F9FA"/>
                    </a:solidFill>
                  </a:tcPr>
                </a:tc>
              </a:tr>
              <a:tr h="257175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02124"/>
                          </a:solidFill>
                          <a:latin typeface="Arial"/>
                        </a:rPr>
                        <a:t>Cost per case (cold)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≤ USD 0.50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202124"/>
                          </a:solidFill>
                          <a:latin typeface="Arial"/>
                        </a:rPr>
                        <a:t>USD 0.26-0.31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Rounded Rectangle 158"/>
          <p:cNvSpPr/>
          <p:nvPr/>
        </p:nvSpPr>
        <p:spPr>
          <a:xfrm>
            <a:off x="4572000" y="3913632"/>
            <a:ext cx="4297680" cy="1024128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4663440" y="3941063"/>
            <a:ext cx="4133087" cy="9875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02124"/>
                </a:solidFill>
                <a:latin typeface="Arial"/>
              </a:rPr>
              <a:t>How measured. </a:t>
            </a:r>
            <a:r>
              <a:rPr sz="750" b="0" i="0">
                <a:solidFill>
                  <a:srgbClr val="202124"/>
                </a:solidFill>
                <a:latin typeface="Arial"/>
              </a:rPr>
              <a:t>Live gemini-3.8-flash runs, 2026-10-15/16: 3 synthetic businesses, 43 documents, 20 planted traps. Strict scoring: an objection counts only if it carries the trap's identifying amount or document, one objection per trap. </a:t>
            </a:r>
            <a:r>
              <a:rPr sz="750" b="0" i="0">
                <a:solidFill>
                  <a:srgbClr val="202124"/>
                </a:solidFill>
                <a:latin typeface="Arial"/>
              </a:rPr>
              <a:t>n = 3 synthetic businesses with team-planted traps, so read as indicative. Missed: dashboard gross vs payout, COD vs cash deposits. Recommendation matched on C; A gave approve_with_conditions (expected approve), B request_more_documents (expected approve_with_conditions). *Clean born-digital synthetic PDFs; real scans will be lower.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52" name="Picture 151" descr="road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245927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Humans decide, every figure and decision is traceable, the prototype uses watermarked synthetic data only, and production keeps documents and model endpoints in-region.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274320" y="1188720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57200" y="13258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</a:rPr>
              <a:t>GitHub public repository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1783080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</a:rPr>
              <a:t>github.com/changhyeonnam/ghack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749039" y="1325880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English README, architecture, run instructions, synthetic-data notice, presentation/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74320" y="2404872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457200" y="2542032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</a:rPr>
              <a:t>Demo video (2 min 59 s)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2999232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</a:rPr>
              <a:t>TBD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49039" y="2542032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Problem, how it works, one case end to end (click-to-source, Challenger, decision, letter), benchmark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4320" y="3621024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457200" y="3758184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</a:rPr>
              <a:t>Final product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7200" y="4215384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</a:rPr>
              <a:t>ledgerlens-api-629502893425.asia-southeast1.run.app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749039" y="3758184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</a:rPr>
              <a:t>Cloud Run, live Gemini within a fixed AI budget (on-screen notice when reached). Each browser gets its own copy of the three demo cases, which replay the recorded live run in seconds; visitors' cases are shared read-only. No login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1">
                <a:solidFill>
                  <a:srgbClr val="5F6368"/>
                </a:solidFill>
                <a:latin typeface="Arial"/>
              </a:rPr>
              <a:t>Links are inserted at submission on 18 October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the Challenger's 12 fixed checks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67" name="Picture 166" descr="checks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6086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Appendix: portfolio, cash flow and audit views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72" name="Picture 71" descr="v2_port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2779776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3" name="TextBox 72"/>
          <p:cNvSpPr txBox="1"/>
          <p:nvPr/>
        </p:nvSpPr>
        <p:spPr>
          <a:xfrm>
            <a:off x="274320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</a:rPr>
              <a:t>Portfolio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Cases in review, open objections and unsourced numbers across the book; filters by status.</a:t>
            </a:r>
          </a:p>
        </p:txBody>
      </p:sp>
      <p:pic>
        <p:nvPicPr>
          <p:cNvPr id="75" name="Picture 74" descr="v2_cashflow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39" y="1188720"/>
            <a:ext cx="2386982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6" name="TextBox 75"/>
          <p:cNvSpPr txBox="1"/>
          <p:nvPr/>
        </p:nvSpPr>
        <p:spPr>
          <a:xfrm>
            <a:off x="3177539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</a:rPr>
              <a:t>Cash flow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77539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Deterministic monthly model: inflow, net, trend, volatility, end-of-month share, repayment capacity.</a:t>
            </a:r>
          </a:p>
        </p:txBody>
      </p:sp>
      <p:pic>
        <p:nvPicPr>
          <p:cNvPr id="78" name="Picture 77" descr="v2_audit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1188720"/>
            <a:ext cx="2386982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9" name="TextBox 78"/>
          <p:cNvSpPr txBox="1"/>
          <p:nvPr/>
        </p:nvSpPr>
        <p:spPr>
          <a:xfrm>
            <a:off x="6080759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</a:rPr>
              <a:t>Audit timeline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80759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</a:rPr>
              <a:t>Every stage and agent call with version, model and prompt; the trail a regulator can read.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1">
                <a:solidFill>
                  <a:srgbClr val="5F6368"/>
                </a:solidFill>
                <a:latin typeface="Arial"/>
              </a:rPr>
              <a:t>Also in the build: dark and light themes, PDF text-layer cross-check on every extracted amount, content-hash LLM cache, cache_only demo mode, budget cap, printable paper memo with footnoted sources.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