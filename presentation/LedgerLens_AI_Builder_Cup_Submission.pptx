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72" r:id="rId28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3" r:id="rId2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8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2.xml"/><Relationship Id="rId29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0F3D4C"/>
                </a:solidFill>
                <a:latin typeface="Arial"/>
              </a:rPr>
              <a:t>Cost per case, USD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 per case</c:v>
                </c:pt>
              </c:strCache>
            </c:strRef>
          </c:tx>
          <c:spPr>
            <a:solidFill>
              <a:srgbClr val="2A7F8E"/>
            </a:solidFill>
          </c:spPr>
          <c:dPt>
            <c:idx val="0"/>
            <c:spPr>
              <a:solidFill>
                <a:srgbClr val="B0B8BE"/>
              </a:solidFill>
            </c:spPr>
          </c:dPt>
          <c:dPt>
            <c:idx val="2"/>
            <c:spPr>
              <a:solidFill>
                <a:srgbClr val="E0A100"/>
              </a:solidFill>
            </c:spPr>
          </c:dPt>
          <c:cat>
            <c:strRef>
              <c:f>Sheet1!$A$2:$A$5</c:f>
              <c:strCache>
                <c:ptCount val="4"/>
                <c:pt idx="0">
                  <c:v>Manual review (45 min at USD 15/h)</c:v>
                </c:pt>
                <c:pt idx="1">
                  <c:v>Single prompt (catches 1 of 20 traps)</c:v>
                </c:pt>
                <c:pt idx="2">
                  <c:v>LedgerLens, Gemini 3.8 Flash, measured</c:v>
                </c:pt>
                <c:pt idx="3">
                  <c:v>LedgerLens, cached re-run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11.25</c:v>
                </c:pt>
                <c:pt idx="1">
                  <c:v>0.015</c:v>
                </c:pt>
                <c:pt idx="2">
                  <c:v>0.31</c:v>
                </c:pt>
                <c:pt idx="3">
                  <c:v>0.0</c:v>
                </c:pt>
              </c:numCache>
            </c:numRef>
          </c:val>
        </c:ser>
        <c:dLbls>
          <c:numFmt formatCode="0.00#" sourceLinked="0"/>
          <c:txPr>
            <a:bodyPr/>
            <a:lstStyle/>
            <a:p>
              <a:pPr>
                <a:defRPr sz="1050" b="1">
                  <a:solidFill>
                    <a:srgbClr val="0F3D4C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BDE"/>
            </a:solidFill>
          </a:ln>
        </c:spPr>
        <c:txPr>
          <a:bodyPr/>
          <a:lstStyle/>
          <a:p>
            <a:pPr>
              <a:defRPr sz="950">
                <a:solidFill>
                  <a:srgbClr val="20212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.5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9.jpg"/><Relationship Id="rId6" Type="http://schemas.openxmlformats.org/officeDocument/2006/relationships/image" Target="../media/image6.jpg"/><Relationship Id="rId7" Type="http://schemas.openxmlformats.org/officeDocument/2006/relationships/image" Target="../media/image10.jpg"/><Relationship Id="rId8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jpg"/><Relationship Id="rId3" Type="http://schemas.openxmlformats.org/officeDocument/2006/relationships/image" Target="../media/image2.png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name: Hey Merlion!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leader name: Changhyeon Nam (team: Changhyeon Nam, Hyunho Yang)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Problem Statement: BFSI: Intelligent Risk, Fraud &amp; Financial Experiences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Why this matters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11556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SOUTHEAST ASIA'S SMALL BUSINESSES RUN THE ECONOMY BUT CANNOT BORROW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132588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600" b="1" i="0">
                <a:solidFill>
                  <a:srgbClr val="E0A100"/>
                </a:solidFill>
                <a:latin typeface="Arial"/>
              </a:rPr>
              <a:t>8.8%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2788920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00" b="1" i="0">
                <a:solidFill>
                  <a:srgbClr val="0F3D4C"/>
                </a:solidFill>
                <a:latin typeface="Arial"/>
              </a:rPr>
              <a:t>of Vietnam's 914,000 SMEs have a bank loan.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4320" y="342900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250" b="0" i="0">
                <a:solidFill>
                  <a:srgbClr val="5F6368"/>
                </a:solidFill>
                <a:latin typeface="Arial"/>
              </a:rPr>
              <a:t>Large enterprises: 47.1%. The same small firms employ most of the region.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92608" y="4160520"/>
            <a:ext cx="3895344" cy="56692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7" name="Rounded Rectangle 76"/>
          <p:cNvSpPr/>
          <p:nvPr/>
        </p:nvSpPr>
        <p:spPr>
          <a:xfrm>
            <a:off x="411480" y="4242816"/>
            <a:ext cx="1550456" cy="164592"/>
          </a:xfrm>
          <a:prstGeom prst="roundRect">
            <a:avLst>
              <a:gd name="adj" fmla="val 10000"/>
            </a:avLst>
          </a:prstGeom>
          <a:solidFill>
            <a:srgbClr val="2A7F8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2007656" y="420624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202124"/>
                </a:solidFill>
                <a:latin typeface="Arial"/>
              </a:rPr>
              <a:t>47.1% large firms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11480" y="4480560"/>
            <a:ext cx="289681" cy="164592"/>
          </a:xfrm>
          <a:prstGeom prst="roundRect">
            <a:avLst>
              <a:gd name="adj" fmla="val 1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746881" y="4443984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202124"/>
                </a:solidFill>
                <a:latin typeface="Arial"/>
              </a:rPr>
              <a:t>8.8% SMEs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480560" y="1371600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590288" y="1463040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400" b="1" i="0">
                <a:solidFill>
                  <a:srgbClr val="0F3D4C"/>
                </a:solidFill>
                <a:latin typeface="Arial"/>
              </a:rPr>
              <a:t>75.5%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943600" y="1444752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of Vietnamese firms cannot borrow without collateral. What they have is PDFs, screenshots and paper receipts.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480560" y="2487168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4590288" y="2578608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400" b="1" i="0">
                <a:solidFill>
                  <a:srgbClr val="0F3D4C"/>
                </a:solidFill>
                <a:latin typeface="Arial"/>
              </a:rPr>
              <a:t>70%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3600" y="2560320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of emerging-market MSMEs lack adequate financing. Reading their records by hand costs more than a small loan earns.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480560" y="3602735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4590288" y="3694175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00" b="1" i="0">
                <a:solidFill>
                  <a:srgbClr val="0F3D4C"/>
                </a:solidFill>
                <a:latin typeface="Arial"/>
              </a:rPr>
              <a:t>The opening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43600" y="3675887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VPBank, Vietcombank and Agribank are moving from collateral to cash-flow lending. Someone still has to read the cash flow. LedgerLens makes that reading fast, sourced and auditable.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" y="4773168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750" b="0" i="1">
                <a:solidFill>
                  <a:srgbClr val="5F6368"/>
                </a:solidFill>
                <a:latin typeface="Arial"/>
              </a:rPr>
              <a:t>Sources: FiinGroup via Viet Nam News (Aug 2026) · VCCI Private Economic Report 2025 · IFC MSME Finance · VTV (May 2026) · ADB Asia SME Monitor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143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LedgerLens turns a shoebox of receipts, screenshots and bank PDFs into a credit memo a bank can trust.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7432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4" name="Rounded Rectangle 73"/>
          <p:cNvSpPr/>
          <p:nvPr/>
        </p:nvSpPr>
        <p:spPr>
          <a:xfrm>
            <a:off x="43891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4400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Read with evidence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3891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Gemini reads every document. Every value carries document id, page and bounding box. Python computes the cash flow. Unsourced numbers cannot enter the memo.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3008376" y="3044952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322326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9" name="Rounded Rectangle 78"/>
          <p:cNvSpPr/>
          <p:nvPr/>
        </p:nvSpPr>
        <p:spPr>
          <a:xfrm>
            <a:off x="338785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63339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8785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A second agent that never sees the first one's prompt runs 12 underwriting checks against the memo and raises severity-ranked objections with evidence.</a:t>
            </a:r>
          </a:p>
        </p:txBody>
      </p:sp>
      <p:sp>
        <p:nvSpPr>
          <p:cNvPr id="82" name="Right Arrow 81"/>
          <p:cNvSpPr/>
          <p:nvPr/>
        </p:nvSpPr>
        <p:spPr>
          <a:xfrm>
            <a:off x="5957316" y="3044952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17220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633679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12280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Human signs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3679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The underwriter accepts or dismisses each objection and signs. Every decision is logged and re-weights the next Challenger run. The applicant gets the reasons in their own language.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0F3D4C"/>
                </a:solidFill>
                <a:latin typeface="Arial"/>
              </a:rPr>
              <a:t>Not a score. A memo. </a:t>
            </a:r>
            <a:r>
              <a:rPr sz="1300" b="0" i="0">
                <a:solidFill>
                  <a:srgbClr val="5F6368"/>
                </a:solidFill>
                <a:latin typeface="Arial"/>
              </a:rPr>
              <a:t>AI does the reading and the arguing; the underwriter keeps the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 i="0">
                <a:solidFill>
                  <a:srgbClr val="0F3D4C"/>
                </a:solidFill>
                <a:latin typeface="Arial"/>
              </a:rPr>
              <a:t>Same documents. Read in about 2 minutes. Every number defensible.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7432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3891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45 → 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891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minutes per file, manual estimate vs measured run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0040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336499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11 → 0.31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6499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USD per case, manual estimate vs measured run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2648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29107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9107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unsourced numbers in any memo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74320" y="3017520"/>
            <a:ext cx="42062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438912" y="309067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How it is different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8912" y="347472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Writer and verifier are separate agents, so the memo is never graded by its author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Figures are computed by code and linked to their source line, not generated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Underwriter decisions re-rank the next Challenger run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663440" y="3017520"/>
            <a:ext cx="42062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4828031" y="309067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Who benefits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28031" y="347472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Small businesses with records but no credit file get assessed on cash flow, not collateral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A declined applicant receives the reasons, in their own language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Lenders can offer small-ticket loans that were uneconomic to underwrite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Every feature hangs on one pipeline, and the pipeline ends with a person.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74320" y="1810512"/>
            <a:ext cx="8595360" cy="36576"/>
          </a:xfrm>
          <a:prstGeom prst="roundRect">
            <a:avLst>
              <a:gd name="adj" fmla="val 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0" name="Rounded Rectangle 89"/>
          <p:cNvSpPr/>
          <p:nvPr/>
        </p:nvSpPr>
        <p:spPr>
          <a:xfrm>
            <a:off x="365760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Intake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74320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65760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Multimodal intake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5760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PDF, screenshots, photos. Classified and quality-flagged.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06731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Extract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515291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606731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Evidence-linked extraction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06731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Doc id, page, bbox on every value. PDF text layer verifies it.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847702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Cash flow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756262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2847702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model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47702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Inflow, outflow, trend, volatility, debt service. Python, not the model.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088674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Analyze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997234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4088674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Clickable memo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88674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Cites catalog figures only. Click one, the source line opens.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329645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238205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5329645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Battery + 12 checks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29645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Image hash, balance chain, dates. Ranked objections with evidence.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570617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Decide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479177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570617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Underwriter workbench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570617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Accept or dismiss, sign. Audit log. Decisions re-weight the checks.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811588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Explain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720148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7811588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Letter and paper memo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811588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Customer letter in the local language. Memo prints with footnoted sources.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1" i="0">
                <a:solidFill>
                  <a:srgbClr val="0F3D4C"/>
                </a:solidFill>
                <a:latin typeface="Arial"/>
              </a:rPr>
              <a:t>Out of scope by design: </a:t>
            </a:r>
            <a:r>
              <a:rPr sz="950" b="0" i="0">
                <a:solidFill>
                  <a:srgbClr val="5F6368"/>
                </a:solidFill>
                <a:latin typeface="Arial"/>
              </a:rPr>
              <a:t>credit scoring, loan pricing, core-banking integration. LedgerLens informs the decision; it does not make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70432"/>
            <a:ext cx="8173783" cy="347472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Three lanes: the loan officer uploads, the agents read and challenge, the underwriter decides. Decisions flow back into the Challenger's priorities.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THE PRODUCT IN ONE INTERACTION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74320" y="128016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2600" b="1" i="0">
                <a:solidFill>
                  <a:srgbClr val="0F3D4C"/>
                </a:solidFill>
                <a:latin typeface="Arial"/>
              </a:rPr>
              <a:t>Click the number. See the line.</a:t>
            </a:r>
          </a:p>
        </p:txBody>
      </p:sp>
      <p:pic>
        <p:nvPicPr>
          <p:cNvPr id="106" name="Picture 105" descr="v2_evidence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783080"/>
            <a:ext cx="4271441" cy="31089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07" name="Rounded Rectangle 106"/>
          <p:cNvSpPr/>
          <p:nvPr/>
        </p:nvSpPr>
        <p:spPr>
          <a:xfrm>
            <a:off x="1137434" y="213253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1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286397" y="224067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2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138256" y="244343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754880" y="178308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1" name="Rounded Rectangle 110"/>
          <p:cNvSpPr/>
          <p:nvPr/>
        </p:nvSpPr>
        <p:spPr>
          <a:xfrm>
            <a:off x="4882896" y="191109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303520" y="187451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memo cites a figure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882896" y="224028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Every underlined value is a catalog figure with a source. Here: VND 82,500,000, credits from the applicant's own accounts.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754880" y="2834639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5" name="Rounded Rectangle 114"/>
          <p:cNvSpPr/>
          <p:nvPr/>
        </p:nvSpPr>
        <p:spPr>
          <a:xfrm>
            <a:off x="4882896" y="296265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303520" y="292607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One click opens the evidence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82896" y="3291839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computation (sum of 3 credits whose sender matches the account holder) and all 3 source references: pages 2, 4 and 5.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754880" y="388620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9" name="Rounded Rectangle 118"/>
          <p:cNvSpPr/>
          <p:nvPr/>
        </p:nvSpPr>
        <p:spPr>
          <a:xfrm>
            <a:off x="4882896" y="401421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303520" y="397763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source line lights up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82896" y="434340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statement page opens with the extractor's bounding box drawn on the exact row. Unsourced numbers: 0, enforced by the output schema.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1170432"/>
            <a:ext cx="7476118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Gemini reads, ADK orchestrates, Python computes, Cloud Run serves.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74320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402336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2336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3.8 Flash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02336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Default for every agent. Measured USD 0.26-0.31 per cold case; free tier available.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441448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2569464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569464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3.1 Pro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569464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One env var moves Extractor, Analyst and Challenger to Pro.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608576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4736592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36592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Agent Development Kit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736592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Intake, 5 Extractors, Analyst, Challenger (investigator and writer), Explainer.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775704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6903720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03720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Cloud Run + Firebase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03720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FastAPI backend scales to zero; React workbench on Firebase Hosting.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74320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02336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2336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Firestore + Storage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02336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Cases, extractions, memos, objections, decisions, audit, traces; documents.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441448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2569464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569464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tools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569464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Cash-flow model, balance chain, image hash, PDF text-layer cross-check, date and entity checks.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08576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736592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736592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LLM cache, budget cap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736592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Content-hash cache per model and prompt version; hard USD cap per process.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775704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6903720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INTEGRATION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03720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REST API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903720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Any loan origination system can create cases, run stages and read memos.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1">
                <a:solidFill>
                  <a:srgbClr val="5F6368"/>
                </a:solidFill>
                <a:latin typeface="Arial"/>
              </a:rPr>
              <a:t>Output schema requires source {doc_id, page, bbox} on every value. No separate OCR engine: pages are rendered to images and read by Gemini.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74320" y="1143000"/>
            <a:ext cx="8595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Cheap enough for small loans: USD 0.26-0.31 per case measured on Flash, zero on a cached re-run</a:t>
            </a:r>
          </a:p>
        </p:txBody>
      </p:sp>
      <p:graphicFrame>
        <p:nvGraphicFramePr>
          <p:cNvPr id="129" name="Chart 128"/>
          <p:cNvGraphicFramePr>
            <a:graphicFrameLocks noGrp="1"/>
          </p:cNvGraphicFramePr>
          <p:nvPr/>
        </p:nvGraphicFramePr>
        <p:xfrm>
          <a:off x="274320" y="1600200"/>
          <a:ext cx="5212080" cy="32004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5760720" y="1645920"/>
          <a:ext cx="3108959" cy="3108959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874519"/>
              </a:tblGrid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Gemini 3.8 Flash list price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0.75 / 3.75 per 1M tokens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Gemini 3.1 Pro list price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2.00 / 12.00 per 1M tokens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Tokens per case (measured)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77-103k for 11-18 documents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Hosting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Cloud Run scales to zero; Firestore and Storage in free tier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Guardrail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Budget-cap env var stops Gemini calls once spent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Build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2 engineers, 4 days, free tier and trial credits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v2_newcas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2852928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7" name="Rounded Rectangle 136"/>
          <p:cNvSpPr/>
          <p:nvPr/>
        </p:nvSpPr>
        <p:spPr>
          <a:xfrm>
            <a:off x="34747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pic>
        <p:nvPicPr>
          <p:cNvPr id="138" name="Picture 137" descr="v2_evidence_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8872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9" name="Rounded Rectangle 138"/>
          <p:cNvSpPr/>
          <p:nvPr/>
        </p:nvSpPr>
        <p:spPr>
          <a:xfrm>
            <a:off x="350215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pic>
        <p:nvPicPr>
          <p:cNvPr id="140" name="Picture 139" descr="v2_receipt_c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1" name="Rounded Rectangle 140"/>
          <p:cNvSpPr/>
          <p:nvPr/>
        </p:nvSpPr>
        <p:spPr>
          <a:xfrm>
            <a:off x="34747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pic>
        <p:nvPicPr>
          <p:cNvPr id="142" name="Picture 141" descr="v2_decision_c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3" name="Rounded Rectangle 142"/>
          <p:cNvSpPr/>
          <p:nvPr/>
        </p:nvSpPr>
        <p:spPr>
          <a:xfrm>
            <a:off x="350215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629400" y="1207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949440" y="1152144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New case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629400" y="1499616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Applicant details, then the raw documents. Intake classifies and quality-flags them.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629400" y="21762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949440" y="2121408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Click a number, see the line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629400" y="2468880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Evidence panel with computation and all sources; the statement opens with the bounding box highlighted.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629400" y="31455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49440" y="3090672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Challenger objections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629400" y="3438144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Critical: two receipt photos are the same image with an edited date. Evidence chips open the photo.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629400" y="411480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949440" y="4059936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The underwriter signs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629400" y="4407408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Outcome, conditions and rationale, written to the audit log; accept/dismiss rates re-weight the checks.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74320" y="1115568"/>
            <a:ext cx="85953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F3D4C"/>
                </a:solidFill>
                <a:latin typeface="Arial"/>
              </a:rPr>
              <a:t>16 of 20 planted traps caught, zero unsourced numbers. A single prompt on the same documents caught 1 and left 45 numbers unsourced.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74320" y="1783080"/>
            <a:ext cx="4114800" cy="18288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11480" y="18288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E0A100"/>
                </a:solidFill>
                <a:latin typeface="Arial"/>
              </a:rPr>
              <a:t>LEDGERLENS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11480" y="2057400"/>
            <a:ext cx="2103120" cy="10972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200" b="1" i="0">
                <a:solidFill>
                  <a:srgbClr val="0F3D4C"/>
                </a:solidFill>
                <a:latin typeface="Arial"/>
              </a:rPr>
              <a:t>16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1480" y="315468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of 20 traps caught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14600" y="1828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5F6368"/>
                </a:solidFill>
                <a:latin typeface="Arial"/>
              </a:rPr>
              <a:t>SINGLE PROMPT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514600" y="20574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200" b="1" i="0">
                <a:solidFill>
                  <a:srgbClr val="B0B8BE"/>
                </a:solidFill>
                <a:latin typeface="Arial"/>
              </a:rP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514600" y="31546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5F6368"/>
                </a:solidFill>
                <a:latin typeface="Arial"/>
              </a:rPr>
              <a:t>same documents, one prompt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432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38404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8404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unsourced numbers (baseline: 45)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37744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248716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~2 min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48716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per cold case, USD 0.26-0.31; cached re-run free</a:t>
            </a:r>
          </a:p>
        </p:txBody>
      </p:sp>
      <p:graphicFrame>
        <p:nvGraphicFramePr>
          <p:cNvPr id="158" name="Table 157"/>
          <p:cNvGraphicFramePr>
            <a:graphicFrameLocks noGrp="1"/>
          </p:cNvGraphicFramePr>
          <p:nvPr/>
        </p:nvGraphicFramePr>
        <p:xfrm>
          <a:off x="4572000" y="1783080"/>
          <a:ext cx="4297680" cy="2103115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1005840"/>
                <a:gridCol w="1188720"/>
              </a:tblGrid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Trap recall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≥ 16 / 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16 / 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Unsourced numbers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Objections on clean case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≤ 20%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1 (4.5%)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Extraction row accuracy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≥ 97%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100% (481/481)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Evidence-link accuracy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≥ 95%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Time per case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≤ 180 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~130 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59" name="Rounded Rectangle 158"/>
          <p:cNvSpPr/>
          <p:nvPr/>
        </p:nvSpPr>
        <p:spPr>
          <a:xfrm>
            <a:off x="4572000" y="4023360"/>
            <a:ext cx="4297680" cy="8686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4681728" y="4059936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850" b="1" i="0">
                <a:solidFill>
                  <a:srgbClr val="202124"/>
                </a:solidFill>
                <a:latin typeface="Arial"/>
              </a:rPr>
              <a:t>How measured. </a:t>
            </a:r>
            <a:r>
              <a:rPr sz="850" b="0" i="0">
                <a:solidFill>
                  <a:srgbClr val="202124"/>
                </a:solidFill>
                <a:latin typeface="Arial"/>
              </a:rPr>
              <a:t>Live Gemini 3.8 Flash run, 2026-10-15. 3 synthetic businesses, 43 born-digital documents, 20 traps. Strict scoring: amount or document under an expected question (95% CI 0.58-0.92). Missed T02, T03, T18, T19. Scanned documents will extract below 100%.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52" name="Picture 151" descr="road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245927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Humans decide, every figure and decision is traceable, the prototype uses watermarked synthetic data only, and production keeps documents and model endpoints in-region.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274320" y="1188720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57200" y="13258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GitHub public repository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7200" y="1783080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github.com/changhyeonnam/ghack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749039" y="1325880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English README, architecture, run instructions, synthetic-data notice, presentation/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74320" y="2404872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5" name="TextBox 164"/>
          <p:cNvSpPr txBox="1"/>
          <p:nvPr/>
        </p:nvSpPr>
        <p:spPr>
          <a:xfrm>
            <a:off x="457200" y="2542032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Demo video (3 to 4 minutes)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57200" y="2999232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YouTube public link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749039" y="2542032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Problem in 20 seconds, click-to-source and Challenger scenes, benchmark near the end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3621024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457200" y="3758184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Final product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57200" y="4215384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ledgerlens-&lt;hash&gt;.a.run.app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749039" y="3758184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Cloud Run service, three demo cases preloaded, warm through evaluation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1">
                <a:solidFill>
                  <a:srgbClr val="5F6368"/>
                </a:solidFill>
                <a:latin typeface="Arial"/>
              </a:rPr>
              <a:t>Links are inserted at submission on 18 October 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Challenger's 12 fixed checks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7" name="Picture 166" descr="checks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60860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portfolio, cash flow and audit views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2" name="Picture 71" descr="v2_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2779776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3" name="TextBox 72"/>
          <p:cNvSpPr txBox="1"/>
          <p:nvPr/>
        </p:nvSpPr>
        <p:spPr>
          <a:xfrm>
            <a:off x="274320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Portfolio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Cases in review, open objections and unsourced numbers across the book; filters by status.</a:t>
            </a:r>
          </a:p>
        </p:txBody>
      </p:sp>
      <p:pic>
        <p:nvPicPr>
          <p:cNvPr id="75" name="Picture 74" descr="v2_cashflow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753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6" name="TextBox 75"/>
          <p:cNvSpPr txBox="1"/>
          <p:nvPr/>
        </p:nvSpPr>
        <p:spPr>
          <a:xfrm>
            <a:off x="317753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Cash flow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7753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Deterministic monthly model: inflow, net, trend, volatility, end-of-month share, repayment capacity.</a:t>
            </a:r>
          </a:p>
        </p:txBody>
      </p:sp>
      <p:pic>
        <p:nvPicPr>
          <p:cNvPr id="78" name="Picture 77" descr="v2_audit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5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9" name="TextBox 78"/>
          <p:cNvSpPr txBox="1"/>
          <p:nvPr/>
        </p:nvSpPr>
        <p:spPr>
          <a:xfrm>
            <a:off x="608075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Audit timeline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8075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Every stage and agent call with version, model and prompt; the trail a regulator can read.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" y="438912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Also in the build: dark and light themes, PDF text-layer cross-check on every extracted amount, content-hash LLM cache, cache_only demo mode, budget cap, printable paper memo with footnoted sources.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