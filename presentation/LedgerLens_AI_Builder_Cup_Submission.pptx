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 (gemini-3.8-flash, live run 2026-10-15)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E0A100"/>
              </a:solidFill>
            </c:spPr>
          </c:dPt>
          <c:dPt>
            <c:idx val="1"/>
            <c:spPr>
              <a:solidFill>
                <a:srgbClr val="E0A100"/>
              </a:solidFill>
            </c:spPr>
          </c:dPt>
          <c:dPt>
            <c:idx val="2"/>
            <c:spPr>
              <a:solidFill>
                <a:srgbClr val="B0B8BE"/>
              </a:solidFill>
            </c:spPr>
          </c:dPt>
          <c:cat>
            <c:strRef>
              <c:f>Sheet1!$A$2:$A$5</c:f>
              <c:strCache>
                <c:ptCount val="4"/>
                <c:pt idx="0">
                  <c:v>LedgerLens cold run, case B (14 docs)</c:v>
                </c:pt>
                <c:pt idx="1">
                  <c:v>LedgerLens cold run, case C (11 docs)</c:v>
                </c:pt>
                <c:pt idx="2">
                  <c:v>Single-prompt baseline (no checks)</c:v>
                </c:pt>
                <c:pt idx="3">
                  <c:v>LedgerLens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0.306</c:v>
                </c:pt>
                <c:pt idx="1">
                  <c:v>0.257</c:v>
                </c:pt>
                <c:pt idx="2">
                  <c:v>0.015</c:v>
                </c:pt>
                <c:pt idx="3">
                  <c:v>0.0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1556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SOUTHEAST ASIA'S SMALL BUSINESSES RUN THE ECONOMY BUT CANNOT BORROW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32588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600" b="1" i="0">
                <a:solidFill>
                  <a:srgbClr val="E0A100"/>
                </a:solidFill>
                <a:latin typeface="Arial"/>
              </a:rPr>
              <a:t>8.8%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278892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of Vietnam's 914,000 SMEs have a bank loan.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" y="342900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250" b="0" i="0">
                <a:solidFill>
                  <a:srgbClr val="5F6368"/>
                </a:solidFill>
                <a:latin typeface="Arial"/>
              </a:rPr>
              <a:t>Large enterprises: 47.1%. The same small firms employ most of the region.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92608" y="4160520"/>
            <a:ext cx="3895344" cy="5669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411480" y="4242816"/>
            <a:ext cx="1550456" cy="164592"/>
          </a:xfrm>
          <a:prstGeom prst="roundRect">
            <a:avLst>
              <a:gd name="adj" fmla="val 10000"/>
            </a:avLst>
          </a:prstGeom>
          <a:solidFill>
            <a:srgbClr val="2A7F8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2007656" y="4206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202124"/>
                </a:solidFill>
                <a:latin typeface="Arial"/>
              </a:rPr>
              <a:t>47.1% large firms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11480" y="4480560"/>
            <a:ext cx="289681" cy="164592"/>
          </a:xfrm>
          <a:prstGeom prst="roundRect">
            <a:avLst>
              <a:gd name="adj" fmla="val 1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46881" y="4443984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202124"/>
                </a:solidFill>
                <a:latin typeface="Arial"/>
              </a:rPr>
              <a:t>8.8% SMEs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480560" y="1371600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590288" y="1463040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43600" y="1444752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Vietnamese firms cannot borrow without collateral. What they have is PDFs, screenshots and paper receipts.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80560" y="2487168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590288" y="2578608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2560320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emerging-market MSMEs lack adequate financing. Reading their records by hand costs more than a small loan earns.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480560" y="3602735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4590288" y="3694175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The opening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0" y="3675887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VPBank, Vietcombank and Agribank are moving from collateral to cash-flow lending. Someone still has to read the cash flow. LedgerLens makes that reading fast, sourced and auditable.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4773168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750" b="0" i="1">
                <a:solidFill>
                  <a:srgbClr val="5F6368"/>
                </a:solidFill>
                <a:latin typeface="Arial"/>
              </a:rPr>
              <a:t>Sources: FiinGroup via Viet Nam News (Aug 2026) · VCCI Private Economic Report 2025 · IFC MSME Finance · VTV (May 2026) · ADB Asia SME Monitor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LedgerLens turns a shoebox of receipts, screenshots and bank PDFs into a credit memo a bank can trust.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43891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891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Gemini reads every document. Every value carries document id, page and bounding box. Python computes the cash flow. A memo with unsourced numbers is rejected and regenerated.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300837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22326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38785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63339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785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A second agent that never sees the first one's prompt runs 12 underwriting checks against the memo and raises severity-ranked objections with evidence.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595731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7220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33679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1228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The underwriter accepts or dismisses each objection and signs. Every decision is logged and re-weights the next Challenger run. The applicant gets the reasons in their own language.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Not a score. A memo. </a:t>
            </a:r>
            <a:r>
              <a:rPr sz="1300" b="0" i="0">
                <a:solidFill>
                  <a:srgbClr val="5F6368"/>
                </a:solidFill>
                <a:latin typeface="Arial"/>
              </a:rPr>
              <a:t>AI does the reading and the arguing; the underwriter keeps the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Same documents. About 2 minutes per file. Every number defensible.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7432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891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per file, end to end (measured, live Gemini)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36499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~0.28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499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USD per case on a cold run; USD 0 on a cached re-run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29107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0 vs 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9107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unsourced numbers in the memo: LedgerLens vs a single prompt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38912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How it is different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Writer and verifier are separate agents, so the memo is never graded by its author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Figures are computed by code and linked to their source line, not generated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Underwriter decisions re-rank the next Challenger run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828031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Who benefits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28031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Small businesses with records but no credit file get assessed on cash flow, not collateral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A declined applicant receives the reasons, in their own language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Lenders can offer small-ticket loans that were uneconomic to underwrite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hangs on one pipeline, and the pipeline ends with a person.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 and quality-flagged.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catalog figures only. Click one, the source line opens.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Battery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sign. Audit log. Decisions re-weight the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paper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computation (sum of 3 credits whose sender matches the account holder) and all 3 source references: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A memo with an unsourced number is rejected and regenerated.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Measured USD 0.26-0.31 per cold case; USD 0 cached.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moves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Agent Development Kit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Intake, 5 Extractors, Analyst, Challenger (investigator and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 + Firebase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FastAPI backend scales to zero; React workbench on Firebase Hosting.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hard USD cap per process.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Output schema requires source {doc_id, page, bbox} on every value. No separate OCR engine: pages are rendered to images and read by Gemini.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Measured: USD 0.26-0.31 per case on a cold Flash run, USD 0 on a cached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Measured cold run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 min and USD 0.26-0.31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Cached re-run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 (content-hash LLM cache)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Public demo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cache_only replay, USD 0; only the customer letter calls Gemini (~USD 0.0015)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16 of 20 planted traps caught on live Gemini; a single prompt on the same documents caught 1.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05740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0F3D4C"/>
                </a:solidFill>
                <a:latin typeface="Arial"/>
              </a:rPr>
              <a:t>16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089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20 traps caught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95% Wilson CI 0.58-0.92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0574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B0B8BE"/>
                </a:solidFill>
                <a:latin typeface="Arial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089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of 20, same documents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and same model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unsourced numbers in the memo (single prompt: 47)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case cold, USD 0.26-0.31; cached re-run USD 0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80" cy="2057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914400"/>
                <a:gridCol w="1554480"/>
              </a:tblGrid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Trap recall (strict)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Unsourced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 (single prompt: 47)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 (4.5%)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accuracy*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 (481 / 481)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accuracy*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Time per case (cold)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~2 min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Cost per case (cold)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USD 0.50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USD 0.26-0.31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3913632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63440" y="3941063"/>
            <a:ext cx="4133087" cy="9875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Live gemini-3.8-flash run, 2026-10-15: 3 synthetic businesses, 43 documents, 20 planted traps. Strict scoring: an objection counts only if it carries the trap's identifying amount or document, one objection per trap. n = 3, so read as indicative. Missed: dashboard gross vs payout, COD vs cash deposits, weekly informal lender with a data gap, ledger cash vs deposits. Recommendation matched on B; A gave approve_with_conditions (expected approve), C gave reject (expected request_more_documents). *Clean born-digital synthetic PDFs; real scans will be lower.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(up to 3 minutes)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 in 20 seconds, click-to-source and Challenger scenes, benchmark near the end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 service; each browser gets its own copy of the three demo cases (Reset demo). Scales to zero; demo cases replay cached runs, so judging costs nothing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