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B0B8BE"/>
              </a:solidFill>
            </c:spPr>
          </c:dPt>
          <c:dPt>
            <c:idx val="2"/>
            <c:spPr>
              <a:solidFill>
                <a:srgbClr val="E0A100"/>
              </a:solidFill>
            </c:spPr>
          </c:dPt>
          <c:cat>
            <c:strRef>
              <c:f>Sheet1!$A$2:$A$5</c:f>
              <c:strCache>
                <c:ptCount val="4"/>
                <c:pt idx="0">
                  <c:v>Manual review (45 min at USD 15/h)</c:v>
                </c:pt>
                <c:pt idx="1">
                  <c:v>LedgerLens, Gemini 3.1 Pro upgrade</c:v>
                </c:pt>
                <c:pt idx="2">
                  <c:v>LedgerLens, Gemini 3.8 Flash default</c:v>
                </c:pt>
                <c:pt idx="3">
                  <c:v>LedgerLens,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11.25</c:v>
                </c:pt>
                <c:pt idx="1">
                  <c:v>0.4</c:v>
                </c:pt>
                <c:pt idx="2">
                  <c:v>0.1</c:v>
                </c:pt>
                <c:pt idx="3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 prompt</c:v>
                </c:pt>
              </c:strCache>
            </c:strRef>
          </c:tx>
          <c:spPr>
            <a:solidFill>
              <a:srgbClr val="B0B8BE"/>
            </a:solidFill>
          </c:spPr>
          <c:cat>
            <c:strRef>
              <c:f>Sheet1!$A$2:$A$3</c:f>
              <c:strCache>
                <c:ptCount val="2"/>
                <c:pt idx="0">
                  <c:v>Planted traps caught (of 20)</c:v>
                </c:pt>
                <c:pt idx="1">
                  <c:v>Unsourced numbers in memo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LedgerLens</c:v>
                </c:pt>
              </c:strCache>
            </c:strRef>
          </c:tx>
          <c:spPr>
            <a:solidFill>
              <a:srgbClr val="E0A100"/>
            </a:solidFill>
          </c:spPr>
          <c:cat>
            <c:strRef>
              <c:f>Sheet1!$A$2:$A$3</c:f>
              <c:strCache>
                <c:ptCount val="2"/>
                <c:pt idx="0">
                  <c:v>Planted traps caught (of 20)</c:v>
                </c:pt>
                <c:pt idx="1">
                  <c:v>Unsourced numbers in memo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</c:v>
                </c:pt>
                <c:pt idx="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202124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image" Target="../media/image1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jpg"/><Relationship Id="rId3" Type="http://schemas.openxmlformats.org/officeDocument/2006/relationships/image" Target="../media/image2.pn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LedgerLens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(SK Telecom, AI CIC)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problem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8595360" cy="360860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IFC MSME Finance · FiinGroup via Viet Nam News (Aug 2026) · ADB Asia SME Monitor 2025 · Bank Indonesia (Aug 2026) · VCCI 2025 via VTV (May 2026)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jour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In one sentence: </a:t>
            </a:r>
            <a:r>
              <a:rPr sz="1100" b="0" i="1">
                <a:solidFill>
                  <a:srgbClr val="202124"/>
                </a:solidFill>
                <a:latin typeface="Arial"/>
              </a:rPr>
              <a:t>the first credit memo where every number can be clicked back to its source, and a second AI tries to break it before a human signs.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80" name="Picture 79" descr="before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43000"/>
            <a:ext cx="8595360" cy="3336595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274320" y="4434840"/>
            <a:ext cx="8595360" cy="5029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524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11480" y="4462272"/>
            <a:ext cx="8321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02124"/>
                </a:solidFill>
                <a:latin typeface="Arial"/>
              </a:rPr>
              <a:t>Why it is different: </a:t>
            </a:r>
            <a:r>
              <a:rPr sz="1000" b="0" i="0">
                <a:solidFill>
                  <a:srgbClr val="202124"/>
                </a:solidFill>
                <a:latin typeface="Arial"/>
              </a:rPr>
              <a:t>the memo is written by one agent and attacked by another, every figure is computed by code and linked to its source, and the underwriter's decisions re-rank the next run. A memo, not a score.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88" name="Picture 87" descr="feature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336595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Out of scope by design: 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v2_mem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5760720" cy="360045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5" name="Rounded Rectangle 104"/>
          <p:cNvSpPr/>
          <p:nvPr/>
        </p:nvSpPr>
        <p:spPr>
          <a:xfrm>
            <a:off x="6263640" y="1188720"/>
            <a:ext cx="2606040" cy="8686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6" name="Rounded Rectangle 105"/>
          <p:cNvSpPr/>
          <p:nvPr/>
        </p:nvSpPr>
        <p:spPr>
          <a:xfrm>
            <a:off x="6373368" y="130759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720840" y="1271016"/>
            <a:ext cx="210312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Recommendation up front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73368" y="1609344"/>
            <a:ext cx="2450592" cy="42062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" b="0" i="0">
                <a:solidFill>
                  <a:srgbClr val="5F6368"/>
                </a:solidFill>
                <a:latin typeface="Arial"/>
              </a:rPr>
              <a:t>Headline, conditions and figures drafted by the Analyst from catalog figures only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263640" y="2130552"/>
            <a:ext cx="2606040" cy="8686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0" name="Rounded Rectangle 109"/>
          <p:cNvSpPr/>
          <p:nvPr/>
        </p:nvSpPr>
        <p:spPr>
          <a:xfrm>
            <a:off x="6373368" y="22494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720840" y="2212848"/>
            <a:ext cx="210312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Numbers link to evidence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73368" y="2551176"/>
            <a:ext cx="2450592" cy="42062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" b="0" i="0">
                <a:solidFill>
                  <a:srgbClr val="5F6368"/>
                </a:solidFill>
                <a:latin typeface="Arial"/>
              </a:rPr>
              <a:t>Click an underlined value: the source page opens with the bounding box highlighted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263640" y="3072384"/>
            <a:ext cx="2606040" cy="8686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4" name="Rounded Rectangle 113"/>
          <p:cNvSpPr/>
          <p:nvPr/>
        </p:nvSpPr>
        <p:spPr>
          <a:xfrm>
            <a:off x="6373368" y="319125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720840" y="3154680"/>
            <a:ext cx="210312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Unsourced numbers: 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73368" y="3493008"/>
            <a:ext cx="2450592" cy="42062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" b="0" i="0">
                <a:solidFill>
                  <a:srgbClr val="5F6368"/>
                </a:solidFill>
                <a:latin typeface="Arial"/>
              </a:rPr>
              <a:t>Enforced by the output schema; a miss becomes a Challenger objection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263640" y="4014216"/>
            <a:ext cx="2606040" cy="8686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8" name="Rounded Rectangle 117"/>
          <p:cNvSpPr/>
          <p:nvPr/>
        </p:nvSpPr>
        <p:spPr>
          <a:xfrm>
            <a:off x="6373368" y="41330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720840" y="4096512"/>
            <a:ext cx="210312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Pipeline, cost, calls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73368" y="4434840"/>
            <a:ext cx="2450592" cy="42062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" b="0" i="0">
                <a:solidFill>
                  <a:srgbClr val="5F6368"/>
                </a:solidFill>
                <a:latin typeface="Arial"/>
              </a:rPr>
              <a:t>Five stages with timings, USD and LLM-call counters; Export prints a paper memo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4320" y="4809744"/>
            <a:ext cx="59436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1">
                <a:solidFill>
                  <a:srgbClr val="5F6368"/>
                </a:solidFill>
                <a:latin typeface="Arial"/>
              </a:rPr>
              <a:t>Live prototype, case B: 14 documents, 130 figures, 0 unsourced, 12 objections.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20" name="Picture 119" descr="tech_st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13695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Output schema requires source {doc_id, page, bbox} on every value. LEDGERLENS_MODEL_PRO=gemini-3.1-pro-preview switches the heavy agents to Pro.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Cheap enough for small loans: about USD 0.10 per case on Flash, zero on a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59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3.1 Pro list price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2.00 / 12.00 per 1M tokens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Tokens per 20-document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60-90k input, 15-25k output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4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19 of 20 planted traps caught, zero unsourced numbers. A single prompt on the same documents caught none.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274320" y="1600200"/>
          <a:ext cx="393192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46" name="Table 145"/>
          <p:cNvGraphicFramePr>
            <a:graphicFrameLocks noGrp="1"/>
          </p:cNvGraphicFramePr>
          <p:nvPr/>
        </p:nvGraphicFramePr>
        <p:xfrm>
          <a:off x="4434840" y="1600200"/>
          <a:ext cx="4434840" cy="2331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1005840"/>
                <a:gridCol w="1371600"/>
              </a:tblGrid>
              <a:tr h="29146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9146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Trap recall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19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146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 (baseline 6)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9146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146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9146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146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4.5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9146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7" name="Rounded Rectangle 146"/>
          <p:cNvSpPr/>
          <p:nvPr/>
        </p:nvSpPr>
        <p:spPr>
          <a:xfrm>
            <a:off x="4434840" y="4041648"/>
            <a:ext cx="4434840" cy="82296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524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4553712" y="4078224"/>
            <a:ext cx="42062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850" b="0" i="0">
                <a:solidFill>
                  <a:srgbClr val="202124"/>
                </a:solidFill>
                <a:latin typeface="Arial"/>
              </a:rPr>
              <a:t>Run of 2026-10-14 in mock mode: full pipeline plus the deterministic Challenger battery, no Gemini calls, 3 synthetic businesses, 43 documents, answer key traps.json. Baseline is a stub in this mode; a live Gemini 3.8 Flash run replaces both before submission.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github.com/&lt;team&gt;/ledgerlens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(3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YouTube public link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at 2:20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ledgerlens-&lt;hash&gt;.a.run.app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service, three demo cases preloaded, warm through evaluation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