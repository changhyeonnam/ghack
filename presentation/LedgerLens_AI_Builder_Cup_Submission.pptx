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72" r:id="rId28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3" r:id="rId29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8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Relationship Id="rId28" Type="http://schemas.openxmlformats.org/officeDocument/2006/relationships/slide" Target="slides/slide2.xml"/><Relationship Id="rId29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050" b="1">
                <a:solidFill>
                  <a:srgbClr val="0F3D4C"/>
                </a:solidFill>
                <a:latin typeface="Arial"/>
              </a:rPr>
              <a:t>Cost per case, USD (gemini-3.8-flash, live run 2026-10-15)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USD per case</c:v>
                </c:pt>
              </c:strCache>
            </c:strRef>
          </c:tx>
          <c:spPr>
            <a:solidFill>
              <a:srgbClr val="2A7F8E"/>
            </a:solidFill>
          </c:spPr>
          <c:dPt>
            <c:idx val="0"/>
            <c:spPr>
              <a:solidFill>
                <a:srgbClr val="E0A100"/>
              </a:solidFill>
            </c:spPr>
          </c:dPt>
          <c:dPt>
            <c:idx val="1"/>
            <c:spPr>
              <a:solidFill>
                <a:srgbClr val="E0A100"/>
              </a:solidFill>
            </c:spPr>
          </c:dPt>
          <c:dPt>
            <c:idx val="2"/>
            <c:spPr>
              <a:solidFill>
                <a:srgbClr val="B0B8BE"/>
              </a:solidFill>
            </c:spPr>
          </c:dPt>
          <c:cat>
            <c:strRef>
              <c:f>Sheet1!$A$2:$A$5</c:f>
              <c:strCache>
                <c:ptCount val="4"/>
                <c:pt idx="0">
                  <c:v>LedgerLens cold run, case B (14 docs)</c:v>
                </c:pt>
                <c:pt idx="1">
                  <c:v>LedgerLens cold run, case C (11 docs)</c:v>
                </c:pt>
                <c:pt idx="2">
                  <c:v>Single-prompt baseline (no checks)</c:v>
                </c:pt>
                <c:pt idx="3">
                  <c:v>LedgerLens cached re-run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0.306</c:v>
                </c:pt>
                <c:pt idx="1">
                  <c:v>0.257</c:v>
                </c:pt>
                <c:pt idx="2">
                  <c:v>0.015</c:v>
                </c:pt>
                <c:pt idx="3">
                  <c:v>0.0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sz="1050" b="1">
                  <a:solidFill>
                    <a:srgbClr val="0F3D4C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5DBDE"/>
            </a:solidFill>
          </a:ln>
        </c:spPr>
        <c:txPr>
          <a:bodyPr/>
          <a:lstStyle/>
          <a:p>
            <a:pPr>
              <a:defRPr sz="950">
                <a:solidFill>
                  <a:srgbClr val="202124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3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chart" Target="../charts/char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9.jpg"/><Relationship Id="rId6" Type="http://schemas.openxmlformats.org/officeDocument/2006/relationships/image" Target="../media/image6.jpg"/><Relationship Id="rId7" Type="http://schemas.openxmlformats.org/officeDocument/2006/relationships/image" Target="../media/image10.jpg"/><Relationship Id="rId8" Type="http://schemas.openxmlformats.org/officeDocument/2006/relationships/image" Target="../media/image1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jpg"/><Relationship Id="rId3" Type="http://schemas.openxmlformats.org/officeDocument/2006/relationships/image" Target="../media/image2.png"/><Relationship Id="rId4" Type="http://schemas.openxmlformats.org/officeDocument/2006/relationships/image" Target="../media/image15.jpg"/><Relationship Id="rId5" Type="http://schemas.openxmlformats.org/officeDocument/2006/relationships/image" Target="../media/image16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600">
                <a:latin typeface="Google Sans Flex"/>
                <a:ea typeface="Google Sans Flex"/>
                <a:cs typeface="Google Sans Flex"/>
                <a:sym typeface="Google Sans Flex"/>
              </a:rPr>
              <a:t>Team name: Hey Merlion!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600">
                <a:latin typeface="Google Sans Flex"/>
                <a:ea typeface="Google Sans Flex"/>
                <a:cs typeface="Google Sans Flex"/>
                <a:sym typeface="Google Sans Flex"/>
              </a:rPr>
              <a:t>Team leader name: Changhyeon Nam (team: Changhyeon Nam, Hyunho Yang)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600">
                <a:latin typeface="Google Sans Flex"/>
                <a:ea typeface="Google Sans Flex"/>
                <a:cs typeface="Google Sans Flex"/>
                <a:sym typeface="Google Sans Flex"/>
              </a:rPr>
              <a:t>Problem Statement: BFSI: Intelligent Risk, Fraud &amp; Financial Experiences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Why this matters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274320" y="1078992"/>
            <a:ext cx="85953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2A7F8E"/>
                </a:solidFill>
                <a:latin typeface="Arial"/>
              </a:rPr>
              <a:t>THE PROBLEM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" y="1280160"/>
            <a:ext cx="8595360" cy="6583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50" b="1" i="0">
                <a:solidFill>
                  <a:srgbClr val="0F3D4C"/>
                </a:solidFill>
                <a:latin typeface="Arial"/>
              </a:rPr>
              <a:t>Banks are ready to lend on cash flow. But manual review costs too much, and numbers from a basic AI prompt cannot be traced to a page.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274320" y="2057400"/>
            <a:ext cx="2697480" cy="2743200"/>
          </a:xfrm>
          <a:prstGeom prst="roundRect">
            <a:avLst>
              <a:gd name="adj" fmla="val 6000"/>
            </a:avLst>
          </a:prstGeom>
          <a:solidFill>
            <a:srgbClr val="F7F9FA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411480" y="2130552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850" b="1" i="0">
                <a:solidFill>
                  <a:srgbClr val="2A7F8E"/>
                </a:solidFill>
                <a:latin typeface="Arial"/>
              </a:rPr>
              <a:t>MEET LINH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11480" y="2359152"/>
            <a:ext cx="2468880" cy="41148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400" b="1" i="0">
                <a:solidFill>
                  <a:srgbClr val="0F3D4C"/>
                </a:solidFill>
                <a:latin typeface="Arial"/>
              </a:rPr>
              <a:t>Shopee seller, Vietnam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11480" y="2761488"/>
            <a:ext cx="2423160" cy="132588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202124"/>
                </a:solidFill>
                <a:latin typeface="Arial"/>
              </a:rPr>
              <a:t>Needs VND 150M in working capital. Her sales are real.</a:t>
            </a:r>
          </a:p>
          <a:p>
            <a:pPr algn="l"/>
            <a:r>
              <a:rPr sz="1000" b="0" i="0">
                <a:solidFill>
                  <a:srgbClr val="202124"/>
                </a:solidFill>
                <a:latin typeface="Arial"/>
              </a:rPr>
              <a:t>She brings 14 documents: a bank statement PDF, monthly Shopee dashboard screenshots, supplier receipts, photos of the shop.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11480" y="3877056"/>
            <a:ext cx="2423160" cy="694944"/>
          </a:xfrm>
          <a:prstGeom prst="roundRect">
            <a:avLst>
              <a:gd name="adj" fmla="val 6000"/>
            </a:avLst>
          </a:prstGeom>
          <a:solidFill>
            <a:srgbClr val="FFF3CC"/>
          </a:solidFill>
          <a:ln w="15240">
            <a:solidFill>
              <a:srgbClr val="E0A10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79" name="TextBox 78"/>
          <p:cNvSpPr txBox="1"/>
          <p:nvPr/>
        </p:nvSpPr>
        <p:spPr>
          <a:xfrm>
            <a:off x="521207" y="3895344"/>
            <a:ext cx="2240280" cy="658368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0F3D4C"/>
                </a:solidFill>
                <a:latin typeface="Arial"/>
              </a:rPr>
              <a:t>No credit file. No collateral.</a:t>
            </a:r>
          </a:p>
          <a:p>
            <a:pPr algn="l"/>
            <a:r>
              <a:rPr sz="950" b="0" i="0">
                <a:solidFill>
                  <a:srgbClr val="B3261E"/>
                </a:solidFill>
                <a:latin typeface="Arial"/>
              </a:rPr>
              <a:t>Today she is declined, or priced blindly.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11480" y="4626864"/>
            <a:ext cx="2468880" cy="164592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00" b="0" i="1">
                <a:solidFill>
                  <a:srgbClr val="5F6368"/>
                </a:solidFill>
                <a:latin typeface="Arial"/>
              </a:rPr>
              <a:t>Synthetic demo case B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337560" y="2240280"/>
            <a:ext cx="27432" cy="2377440"/>
          </a:xfrm>
          <a:prstGeom prst="roundRect">
            <a:avLst>
              <a:gd name="adj" fmla="val 0"/>
            </a:avLst>
          </a:prstGeom>
          <a:solidFill>
            <a:srgbClr val="D5DBD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2" name="Rounded Rectangle 81"/>
          <p:cNvSpPr/>
          <p:nvPr/>
        </p:nvSpPr>
        <p:spPr>
          <a:xfrm>
            <a:off x="3200400" y="2217420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3630168" y="2057400"/>
            <a:ext cx="5239511" cy="6309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84" name="TextBox 83"/>
          <p:cNvSpPr txBox="1"/>
          <p:nvPr/>
        </p:nvSpPr>
        <p:spPr>
          <a:xfrm>
            <a:off x="3749040" y="2093976"/>
            <a:ext cx="1097280" cy="557784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2000" b="1" i="0">
                <a:solidFill>
                  <a:srgbClr val="0F3D4C"/>
                </a:solidFill>
                <a:latin typeface="Arial"/>
              </a:rPr>
              <a:t>8.8%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892040" y="2093976"/>
            <a:ext cx="3886200" cy="557784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of Vietnam's SMEs have a bank loan; large firms: 47.1%. Without a credit file or collateral, small firms are declined.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3200400" y="2921508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3630168" y="2761488"/>
            <a:ext cx="5239511" cy="6309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88" name="TextBox 87"/>
          <p:cNvSpPr txBox="1"/>
          <p:nvPr/>
        </p:nvSpPr>
        <p:spPr>
          <a:xfrm>
            <a:off x="3749040" y="2798064"/>
            <a:ext cx="1097280" cy="557784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2000" b="1" i="0">
                <a:solidFill>
                  <a:srgbClr val="0F3D4C"/>
                </a:solidFill>
                <a:latin typeface="Arial"/>
              </a:rPr>
              <a:t>75.5%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92040" y="2798064"/>
            <a:ext cx="3886200" cy="557784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of Vietnamese firms cannot borrow without collateral, so banks are moving to cash-flow lending (VPBank, Vietcombank, Agribank).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3200400" y="3625596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3630168" y="3465576"/>
            <a:ext cx="5239511" cy="6309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92" name="TextBox 91"/>
          <p:cNvSpPr txBox="1"/>
          <p:nvPr/>
        </p:nvSpPr>
        <p:spPr>
          <a:xfrm>
            <a:off x="3749040" y="3502152"/>
            <a:ext cx="1097280" cy="557784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2000" b="1" i="0">
                <a:solidFill>
                  <a:srgbClr val="0F3D4C"/>
                </a:solidFill>
                <a:latin typeface="Arial"/>
              </a:rPr>
              <a:t>~45 min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892040" y="3502152"/>
            <a:ext cx="3886200" cy="557784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to read and verify one file by hand. For a small loan, the reading costs more than the loan earns.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3200400" y="4329683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000" b="1">
                <a:solidFill>
                  <a:srgbClr val="0F3D4C"/>
                </a:solidFill>
                <a:latin typeface="Arial"/>
              </a:rPr>
              <a:t>4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3630168" y="4169663"/>
            <a:ext cx="5239511" cy="630936"/>
          </a:xfrm>
          <a:prstGeom prst="roundRect">
            <a:avLst>
              <a:gd name="adj" fmla="val 6000"/>
            </a:avLst>
          </a:prstGeom>
          <a:solidFill>
            <a:srgbClr val="FFF3CC"/>
          </a:solidFill>
          <a:ln w="17780">
            <a:solidFill>
              <a:srgbClr val="E0A10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96" name="TextBox 95"/>
          <p:cNvSpPr txBox="1"/>
          <p:nvPr/>
        </p:nvSpPr>
        <p:spPr>
          <a:xfrm>
            <a:off x="3749040" y="4206240"/>
            <a:ext cx="1097280" cy="557784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2000" b="1" i="0">
                <a:solidFill>
                  <a:srgbClr val="0F3D4C"/>
                </a:solidFill>
                <a:latin typeface="Arial"/>
              </a:rPr>
              <a:t>77%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892040" y="4206240"/>
            <a:ext cx="3886200" cy="557784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of memo numbers from a single Gemini prompt have no source page. The underwriter must find each one again. That prompt also caught only 15% of the planted risks.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" y="4828032"/>
            <a:ext cx="8595360" cy="201168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00" b="0" i="1">
                <a:solidFill>
                  <a:srgbClr val="5F6368"/>
                </a:solidFill>
                <a:latin typeface="Arial"/>
              </a:rPr>
              <a:t>Sources: 1 FiinGroup via Viet Nam News (Aug 2026) · 2 VCCI 2025 via VTV (May 2026) · 3 team estimate; ADB Asia SME Monitor 2025 · 4 our live benchmark, gemini-3.8-flash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274320" y="1078992"/>
            <a:ext cx="85953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2A7F8E"/>
                </a:solidFill>
                <a:latin typeface="Arial"/>
              </a:rPr>
              <a:t>THE SOLUTION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" y="1280160"/>
            <a:ext cx="85953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0F3D4C"/>
                </a:solidFill>
                <a:latin typeface="Arial"/>
              </a:rPr>
              <a:t>LedgerLens reads the records, shows its work and challenges its findings before a human signs.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274320" y="2011680"/>
            <a:ext cx="2697480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75" name="Rounded Rectangle 74"/>
          <p:cNvSpPr/>
          <p:nvPr/>
        </p:nvSpPr>
        <p:spPr>
          <a:xfrm>
            <a:off x="420623" y="2130552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59536" y="210312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400" b="1" i="0">
                <a:solidFill>
                  <a:srgbClr val="0F3D4C"/>
                </a:solidFill>
                <a:latin typeface="Arial"/>
              </a:rPr>
              <a:t>Read with evidence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59536" y="2340864"/>
            <a:ext cx="2011680" cy="18288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2A7F8E"/>
                </a:solidFill>
                <a:latin typeface="Arial"/>
              </a:rPr>
              <a:t>CUTS READING COST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20623" y="2633472"/>
            <a:ext cx="2404872" cy="11430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Gemini reads every page. Each value has a document, page and bounding box. Python computes the cash flow. A memo with an unsourced number is rejected and regenerated.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384048" y="3767328"/>
            <a:ext cx="2478024" cy="658368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475488" y="3794760"/>
            <a:ext cx="2295144" cy="612648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900" b="1" i="0">
                <a:solidFill>
                  <a:srgbClr val="0F3D4C"/>
                </a:solidFill>
                <a:latin typeface="Arial"/>
              </a:rPr>
              <a:t>In Linh's file: </a:t>
            </a:r>
            <a:r>
              <a:rPr sz="900" b="0" i="0">
                <a:solidFill>
                  <a:srgbClr val="202124"/>
                </a:solidFill>
                <a:latin typeface="Arial"/>
              </a:rPr>
              <a:t>14 documents, every figure sourced to a page and box, in about 2 minutes.</a:t>
            </a:r>
          </a:p>
        </p:txBody>
      </p:sp>
      <p:sp>
        <p:nvSpPr>
          <p:cNvPr id="81" name="Right Arrow 80"/>
          <p:cNvSpPr/>
          <p:nvPr/>
        </p:nvSpPr>
        <p:spPr>
          <a:xfrm>
            <a:off x="3008376" y="3108960"/>
            <a:ext cx="182880" cy="256032"/>
          </a:xfrm>
          <a:prstGeom prst="rightArrow">
            <a:avLst/>
          </a:prstGeom>
          <a:solidFill>
            <a:srgbClr val="B9C6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3223260" y="2011680"/>
            <a:ext cx="2697480" cy="2514600"/>
          </a:xfrm>
          <a:prstGeom prst="roundRect">
            <a:avLst>
              <a:gd name="adj" fmla="val 6000"/>
            </a:avLst>
          </a:prstGeom>
          <a:solidFill>
            <a:srgbClr val="FFF3CC"/>
          </a:solidFill>
          <a:ln w="19050">
            <a:solidFill>
              <a:srgbClr val="E0A10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83" name="Rounded Rectangle 82"/>
          <p:cNvSpPr/>
          <p:nvPr/>
        </p:nvSpPr>
        <p:spPr>
          <a:xfrm>
            <a:off x="3369564" y="2130552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100" b="1">
                <a:solidFill>
                  <a:srgbClr val="0F3D4C"/>
                </a:solidFill>
                <a:latin typeface="Arial"/>
              </a:rPr>
              <a:t>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808476" y="210312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400" b="1" i="0">
                <a:solidFill>
                  <a:srgbClr val="0F3D4C"/>
                </a:solidFill>
                <a:latin typeface="Arial"/>
              </a:rPr>
              <a:t>Challenge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808476" y="2340864"/>
            <a:ext cx="2011680" cy="18288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E0A100"/>
                </a:solidFill>
                <a:latin typeface="Arial"/>
              </a:rPr>
              <a:t>CHECKS AI OUTPUT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369564" y="2633472"/>
            <a:ext cx="2404872" cy="11430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A separate agent never sees the writer's prompt. It runs deterministic checks and 12 underwriting questions, then ranks objections with evidence.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3332988" y="3767328"/>
            <a:ext cx="2478024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8" name="TextBox 87"/>
          <p:cNvSpPr txBox="1"/>
          <p:nvPr/>
        </p:nvSpPr>
        <p:spPr>
          <a:xfrm>
            <a:off x="3424428" y="3794760"/>
            <a:ext cx="2295144" cy="612648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900" b="1" i="0">
                <a:solidFill>
                  <a:srgbClr val="0F3D4C"/>
                </a:solidFill>
                <a:latin typeface="Arial"/>
              </a:rPr>
              <a:t>In Linh's file: </a:t>
            </a:r>
            <a:r>
              <a:rPr sz="900" b="0" i="0">
                <a:solidFill>
                  <a:srgbClr val="202124"/>
                </a:solidFill>
                <a:latin typeface="Arial"/>
              </a:rPr>
              <a:t>Flags a reused receipt photo and VND 82.5M of own-account transfers counted as income.</a:t>
            </a:r>
          </a:p>
        </p:txBody>
      </p:sp>
      <p:sp>
        <p:nvSpPr>
          <p:cNvPr id="89" name="Right Arrow 88"/>
          <p:cNvSpPr/>
          <p:nvPr/>
        </p:nvSpPr>
        <p:spPr>
          <a:xfrm>
            <a:off x="5957316" y="3108960"/>
            <a:ext cx="182880" cy="256032"/>
          </a:xfrm>
          <a:prstGeom prst="rightArrow">
            <a:avLst/>
          </a:prstGeom>
          <a:solidFill>
            <a:srgbClr val="B9C6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6172200" y="2011680"/>
            <a:ext cx="2697480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91" name="Rounded Rectangle 90"/>
          <p:cNvSpPr/>
          <p:nvPr/>
        </p:nvSpPr>
        <p:spPr>
          <a:xfrm>
            <a:off x="6318504" y="2130552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757416" y="210312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400" b="1" i="0">
                <a:solidFill>
                  <a:srgbClr val="0F3D4C"/>
                </a:solidFill>
                <a:latin typeface="Arial"/>
              </a:rPr>
              <a:t>Human signs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757416" y="2340864"/>
            <a:ext cx="2011680" cy="18288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2A7F8E"/>
                </a:solidFill>
                <a:latin typeface="Arial"/>
              </a:rPr>
              <a:t>KEEPS ACCOUNTABILITY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18504" y="2633472"/>
            <a:ext cx="2404872" cy="11430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The underwriter accepts or dismisses each objection and signs. Every agent call is logged; decisions set priorities for the next run.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6281928" y="3767328"/>
            <a:ext cx="2478024" cy="658368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96" name="TextBox 95"/>
          <p:cNvSpPr txBox="1"/>
          <p:nvPr/>
        </p:nvSpPr>
        <p:spPr>
          <a:xfrm>
            <a:off x="6373368" y="3794760"/>
            <a:ext cx="2295144" cy="612648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900" b="1" i="0">
                <a:solidFill>
                  <a:srgbClr val="0F3D4C"/>
                </a:solidFill>
                <a:latin typeface="Arial"/>
              </a:rPr>
              <a:t>In Linh's file: </a:t>
            </a:r>
            <a:r>
              <a:rPr sz="900" b="0" i="0">
                <a:solidFill>
                  <a:srgbClr val="202124"/>
                </a:solidFill>
                <a:latin typeface="Arial"/>
              </a:rPr>
              <a:t>Linh receives the decision and its conditions in Vietnamese.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74320" y="4617720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050" b="1" i="0">
                <a:solidFill>
                  <a:srgbClr val="0F3D4C"/>
                </a:solidFill>
                <a:latin typeface="Arial"/>
              </a:rPr>
              <a:t>Grounded only in the applicant's documents. </a:t>
            </a:r>
            <a:r>
              <a:rPr sz="1050" b="0" i="0">
                <a:solidFill>
                  <a:srgbClr val="5F6368"/>
                </a:solidFill>
                <a:latin typeface="Arial"/>
              </a:rPr>
              <a:t>Guardrails: output schema, deterministic checks, a second agent, a human signature.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b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</a:b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/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/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/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274320" y="1078992"/>
            <a:ext cx="85953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2A7F8E"/>
                </a:solidFill>
                <a:latin typeface="Arial"/>
              </a:rPr>
              <a:t>EXPECTED IMPACT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" y="1280160"/>
            <a:ext cx="859536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1" i="0">
                <a:solidFill>
                  <a:srgbClr val="0F3D4C"/>
                </a:solidFill>
                <a:latin typeface="Arial"/>
              </a:rPr>
              <a:t>What changes for each team.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274320" y="1783080"/>
            <a:ext cx="274320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83" name="Rounded Rectangle 82"/>
          <p:cNvSpPr/>
          <p:nvPr/>
        </p:nvSpPr>
        <p:spPr>
          <a:xfrm>
            <a:off x="420623" y="1892807"/>
            <a:ext cx="1691640" cy="256032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For the lender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20623" y="2240280"/>
            <a:ext cx="2468880" cy="64008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3200" b="1" i="0">
                <a:solidFill>
                  <a:srgbClr val="0F3D4C"/>
                </a:solidFill>
                <a:latin typeface="Arial"/>
              </a:rPr>
              <a:t>45 → 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20623" y="2852928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050" b="1" i="0">
                <a:solidFill>
                  <a:srgbClr val="2A7F8E"/>
                </a:solidFill>
                <a:latin typeface="Arial"/>
              </a:rPr>
              <a:t>minutes per file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20623" y="3154680"/>
            <a:ext cx="2468880" cy="6858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USD ~11 → 0.28 per case. Small loans become worth underwriting.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3200400" y="1783080"/>
            <a:ext cx="274320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88" name="Rounded Rectangle 87"/>
          <p:cNvSpPr/>
          <p:nvPr/>
        </p:nvSpPr>
        <p:spPr>
          <a:xfrm>
            <a:off x="3346704" y="1892807"/>
            <a:ext cx="1691640" cy="256032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For the small business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346704" y="2240280"/>
            <a:ext cx="2468880" cy="64008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3200" b="1" i="0">
                <a:solidFill>
                  <a:srgbClr val="0F3D4C"/>
                </a:solidFill>
                <a:latin typeface="Arial"/>
              </a:rPr>
              <a:t>Cash flow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346704" y="2852928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050" b="1" i="0">
                <a:solidFill>
                  <a:srgbClr val="2A7F8E"/>
                </a:solidFill>
                <a:latin typeface="Arial"/>
              </a:rPr>
              <a:t>not collateral, decides the loan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346704" y="3154680"/>
            <a:ext cx="2468880" cy="6858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Assessed using her existing records. A decline comes with reasons in her own language.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6126480" y="1783080"/>
            <a:ext cx="2743200" cy="1874519"/>
          </a:xfrm>
          <a:prstGeom prst="roundRect">
            <a:avLst>
              <a:gd name="adj" fmla="val 6000"/>
            </a:avLst>
          </a:prstGeom>
          <a:solidFill>
            <a:srgbClr val="FFF3CC"/>
          </a:solidFill>
          <a:ln w="19050">
            <a:solidFill>
              <a:srgbClr val="E0A10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93" name="Rounded Rectangle 92"/>
          <p:cNvSpPr/>
          <p:nvPr/>
        </p:nvSpPr>
        <p:spPr>
          <a:xfrm>
            <a:off x="6272784" y="1892807"/>
            <a:ext cx="1691640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0F3D4C"/>
                </a:solidFill>
                <a:latin typeface="Arial"/>
              </a:rPr>
              <a:t>For risk and audit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272784" y="2240280"/>
            <a:ext cx="2468880" cy="64008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3200" b="1" i="0">
                <a:solidFill>
                  <a:srgbClr val="0F3D4C"/>
                </a:solidFill>
                <a:latin typeface="Arial"/>
              </a:rPr>
              <a:t>77% → 0%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272784" y="2852928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050" b="1" i="0">
                <a:solidFill>
                  <a:srgbClr val="2A7F8E"/>
                </a:solidFill>
                <a:latin typeface="Arial"/>
              </a:rPr>
              <a:t>of memo numbers with no page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272784" y="3154680"/>
            <a:ext cx="2468880" cy="6858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Every figure links to a page and box, so nothing needs manual re-checking. Planted risks caught: 90% vs 15%.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274320" y="3794760"/>
            <a:ext cx="8595360" cy="502920"/>
          </a:xfrm>
          <a:prstGeom prst="roundRect">
            <a:avLst>
              <a:gd name="adj" fmla="val 8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411480" y="3813048"/>
            <a:ext cx="8321040" cy="466344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950" b="1" i="0">
                <a:solidFill>
                  <a:srgbClr val="E0A100"/>
                </a:solidFill>
                <a:latin typeface="Arial"/>
              </a:rPr>
              <a:t>USP   </a:t>
            </a:r>
            <a:r>
              <a:rPr sz="950" b="0" i="0">
                <a:solidFill>
                  <a:srgbClr val="FFFFFF"/>
                </a:solidFill>
                <a:latin typeface="Arial"/>
              </a:rPr>
              <a:t>Separate agents write and verify · code computes numbers, never generates them · every number links to its source line · decisions set check priorities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74320" y="4407408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00" b="1" i="0">
                <a:solidFill>
                  <a:srgbClr val="0F3D4C"/>
                </a:solidFill>
                <a:latin typeface="Arial"/>
              </a:rPr>
              <a:t>Back to the 8.8%: </a:t>
            </a:r>
            <a:r>
              <a:rPr sz="1100" b="0" i="0">
                <a:solidFill>
                  <a:srgbClr val="5F6368"/>
                </a:solidFill>
                <a:latin typeface="Arial"/>
              </a:rPr>
              <a:t>when reading a file costs cents and minutes instead of an hour, the loans banks decline today become worth making.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74320" y="4846320"/>
            <a:ext cx="8595360" cy="18288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00" b="0" i="1">
                <a:solidFill>
                  <a:srgbClr val="5F6368"/>
                </a:solidFill>
                <a:latin typeface="Arial"/>
              </a:rPr>
              <a:t>The manual baseline (45 min at USD 15/h) is a team estimate. A number is untraceable if it has no source document and page; correctness was not measured. Live gemini-3.8-flash on a small synthetic sample.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Features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274320" y="1115568"/>
            <a:ext cx="85953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0F3D4C"/>
                </a:solidFill>
                <a:latin typeface="Arial"/>
              </a:rPr>
              <a:t>Every feature is part of one pipeline that ends with a human decision.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274320" y="1810512"/>
            <a:ext cx="8595360" cy="36576"/>
          </a:xfrm>
          <a:prstGeom prst="roundRect">
            <a:avLst>
              <a:gd name="adj" fmla="val 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90" name="Rounded Rectangle 89"/>
          <p:cNvSpPr/>
          <p:nvPr/>
        </p:nvSpPr>
        <p:spPr>
          <a:xfrm>
            <a:off x="365760" y="1700784"/>
            <a:ext cx="966651" cy="256032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Intake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274320" y="2103120"/>
            <a:ext cx="1149531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92" name="TextBox 91"/>
          <p:cNvSpPr txBox="1"/>
          <p:nvPr/>
        </p:nvSpPr>
        <p:spPr>
          <a:xfrm>
            <a:off x="365760" y="2194560"/>
            <a:ext cx="966651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Multimodal intake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5760" y="2971800"/>
            <a:ext cx="966651" cy="1600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PDF, screenshots, photos. Classified, with quality flags.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1606731" y="1700784"/>
            <a:ext cx="966651" cy="256032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Extract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1515291" y="2103120"/>
            <a:ext cx="1149531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96" name="TextBox 95"/>
          <p:cNvSpPr txBox="1"/>
          <p:nvPr/>
        </p:nvSpPr>
        <p:spPr>
          <a:xfrm>
            <a:off x="1606731" y="2194560"/>
            <a:ext cx="966651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Evidence-linked extraction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606731" y="2971800"/>
            <a:ext cx="966651" cy="1600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Doc id, page, bbox on every value. PDF text layer verifies it.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2847702" y="1700784"/>
            <a:ext cx="966651" cy="256032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Cash flow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2756262" y="2103120"/>
            <a:ext cx="1149531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00" name="TextBox 99"/>
          <p:cNvSpPr txBox="1"/>
          <p:nvPr/>
        </p:nvSpPr>
        <p:spPr>
          <a:xfrm>
            <a:off x="2847702" y="2194560"/>
            <a:ext cx="966651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Deterministic model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847702" y="2971800"/>
            <a:ext cx="966651" cy="1600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Inflow, outflow, trend, volatility, debt service. Python, not the model.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4088674" y="1700784"/>
            <a:ext cx="966651" cy="256032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Analyze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3997234" y="2103120"/>
            <a:ext cx="1149531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04" name="TextBox 103"/>
          <p:cNvSpPr txBox="1"/>
          <p:nvPr/>
        </p:nvSpPr>
        <p:spPr>
          <a:xfrm>
            <a:off x="4088674" y="2194560"/>
            <a:ext cx="966651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Clickable memo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088674" y="2971800"/>
            <a:ext cx="966651" cy="1600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Cites only catalog figures. Click to open the source line.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5329645" y="1700784"/>
            <a:ext cx="966651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0F3D4C"/>
                </a:solidFill>
                <a:latin typeface="Arial"/>
              </a:rPr>
              <a:t>Challenge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5238205" y="2103120"/>
            <a:ext cx="1149531" cy="2514600"/>
          </a:xfrm>
          <a:prstGeom prst="roundRect">
            <a:avLst>
              <a:gd name="adj" fmla="val 6000"/>
            </a:avLst>
          </a:prstGeom>
          <a:solidFill>
            <a:srgbClr val="FFF3CC"/>
          </a:solidFill>
          <a:ln w="19050">
            <a:solidFill>
              <a:srgbClr val="E0A10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08" name="TextBox 107"/>
          <p:cNvSpPr txBox="1"/>
          <p:nvPr/>
        </p:nvSpPr>
        <p:spPr>
          <a:xfrm>
            <a:off x="5329645" y="2194560"/>
            <a:ext cx="966651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Tools + 12 checks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329645" y="2971800"/>
            <a:ext cx="966651" cy="1600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Image hash, balance chain, dates. Ranked objections with evidence.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6570617" y="1700784"/>
            <a:ext cx="966651" cy="256032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Decide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6479177" y="2103120"/>
            <a:ext cx="1149531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12" name="TextBox 111"/>
          <p:cNvSpPr txBox="1"/>
          <p:nvPr/>
        </p:nvSpPr>
        <p:spPr>
          <a:xfrm>
            <a:off x="6570617" y="2194560"/>
            <a:ext cx="966651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Underwriter workbench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570617" y="2971800"/>
            <a:ext cx="966651" cy="1600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Accept or dismiss, then sign. Audit log. Decisions guide checks.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7811588" y="1700784"/>
            <a:ext cx="966651" cy="256032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Explain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7720148" y="2103120"/>
            <a:ext cx="1149531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16" name="TextBox 115"/>
          <p:cNvSpPr txBox="1"/>
          <p:nvPr/>
        </p:nvSpPr>
        <p:spPr>
          <a:xfrm>
            <a:off x="7811588" y="2194560"/>
            <a:ext cx="966651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Letter and print memo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7811588" y="2971800"/>
            <a:ext cx="966651" cy="1600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Customer letter in the local language. Memo prints with footnoted sources.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274320" y="4681728"/>
            <a:ext cx="85953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1" i="0">
                <a:solidFill>
                  <a:srgbClr val="0F3D4C"/>
                </a:solidFill>
                <a:latin typeface="Arial"/>
              </a:rPr>
              <a:t>Out of scope by design: </a:t>
            </a:r>
            <a:r>
              <a:rPr sz="950" b="0" i="0">
                <a:solidFill>
                  <a:srgbClr val="5F6368"/>
                </a:solidFill>
                <a:latin typeface="Arial"/>
              </a:rPr>
              <a:t>credit scoring, loan pricing, core-banking integration. LedgerLens informs the decision; it does not make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96" name="Picture 95" descr="process_flo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170432"/>
            <a:ext cx="8173783" cy="3474720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274320" y="4681728"/>
            <a:ext cx="85953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 i="1">
                <a:solidFill>
                  <a:srgbClr val="5F6368"/>
                </a:solidFill>
                <a:latin typeface="Arial"/>
              </a:rPr>
              <a:t>Three lanes: the loan officer uploads, the agents read and challenge, the underwriter decides. Decisions flow back into the Challenger's priorities.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The product in use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274320" y="1078992"/>
            <a:ext cx="85953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2A7F8E"/>
                </a:solidFill>
                <a:latin typeface="Arial"/>
              </a:rPr>
              <a:t>THE PRODUCT IN ONE INTERACTION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74320" y="1280160"/>
            <a:ext cx="8595360" cy="457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2600" b="1" i="0">
                <a:solidFill>
                  <a:srgbClr val="0F3D4C"/>
                </a:solidFill>
                <a:latin typeface="Arial"/>
              </a:rPr>
              <a:t>Click the number. See the line.</a:t>
            </a:r>
          </a:p>
        </p:txBody>
      </p:sp>
      <p:pic>
        <p:nvPicPr>
          <p:cNvPr id="106" name="Picture 105" descr="v2_evidence_c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1783080"/>
            <a:ext cx="4271441" cy="310896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107" name="Rounded Rectangle 106"/>
          <p:cNvSpPr/>
          <p:nvPr/>
        </p:nvSpPr>
        <p:spPr>
          <a:xfrm>
            <a:off x="1137434" y="2132539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000" b="1">
                <a:solidFill>
                  <a:srgbClr val="0F3D4C"/>
                </a:solidFill>
                <a:latin typeface="Arial"/>
              </a:rPr>
              <a:t>1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2286397" y="2240677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000" b="1">
                <a:solidFill>
                  <a:srgbClr val="0F3D4C"/>
                </a:solidFill>
                <a:latin typeface="Arial"/>
              </a:rPr>
              <a:t>2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4138256" y="2443435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000" b="1">
                <a:solidFill>
                  <a:srgbClr val="0F3D4C"/>
                </a:solidFill>
                <a:latin typeface="Arial"/>
              </a:rPr>
              <a:t>3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4754880" y="1783080"/>
            <a:ext cx="411480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11" name="Rounded Rectangle 110"/>
          <p:cNvSpPr/>
          <p:nvPr/>
        </p:nvSpPr>
        <p:spPr>
          <a:xfrm>
            <a:off x="4882896" y="1911095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303520" y="1874519"/>
            <a:ext cx="3474720" cy="36576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1350" b="1" i="0">
                <a:solidFill>
                  <a:srgbClr val="0F3D4C"/>
                </a:solidFill>
                <a:latin typeface="Arial"/>
              </a:rPr>
              <a:t>The memo cites a figure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882896" y="2240280"/>
            <a:ext cx="3886200" cy="5029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Every underlined value is a catalog figure with a source. Here: VND 82,500,000, credits from the applicant's own accounts.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4754880" y="2834639"/>
            <a:ext cx="411480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15" name="Rounded Rectangle 114"/>
          <p:cNvSpPr/>
          <p:nvPr/>
        </p:nvSpPr>
        <p:spPr>
          <a:xfrm>
            <a:off x="4882896" y="2962656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303520" y="2926079"/>
            <a:ext cx="3474720" cy="36576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1350" b="1" i="0">
                <a:solidFill>
                  <a:srgbClr val="0F3D4C"/>
                </a:solidFill>
                <a:latin typeface="Arial"/>
              </a:rPr>
              <a:t>One click opens the evidence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82896" y="3291839"/>
            <a:ext cx="3886200" cy="5029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The calculation: sum of 3 credits whose sender matches the account holder. All 3 sources: pages 2, 4 and 5.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4754880" y="3886200"/>
            <a:ext cx="4114800" cy="960120"/>
          </a:xfrm>
          <a:prstGeom prst="roundRect">
            <a:avLst>
              <a:gd name="adj" fmla="val 6000"/>
            </a:avLst>
          </a:prstGeom>
          <a:solidFill>
            <a:srgbClr val="FFF3CC"/>
          </a:solidFill>
          <a:ln w="19050">
            <a:solidFill>
              <a:srgbClr val="E0A10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19" name="Rounded Rectangle 118"/>
          <p:cNvSpPr/>
          <p:nvPr/>
        </p:nvSpPr>
        <p:spPr>
          <a:xfrm>
            <a:off x="4882896" y="4014215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100" b="1">
                <a:solidFill>
                  <a:srgbClr val="0F3D4C"/>
                </a:solidFill>
                <a:latin typeface="Arial"/>
              </a:rPr>
              <a:t>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303520" y="3977639"/>
            <a:ext cx="3474720" cy="36576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1350" b="1" i="0">
                <a:solidFill>
                  <a:srgbClr val="0F3D4C"/>
                </a:solidFill>
                <a:latin typeface="Arial"/>
              </a:rPr>
              <a:t>The source line lights up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82896" y="4343400"/>
            <a:ext cx="3886200" cy="5029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The statement page opens with the extractor's bounding box drawn on the exact row. A memo with an unsourced number is rejected and regenerated.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12" name="Picture 111" descr="architectu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1170432"/>
            <a:ext cx="7476118" cy="36118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Technology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TextBox 119"/>
          <p:cNvSpPr txBox="1"/>
          <p:nvPr/>
        </p:nvSpPr>
        <p:spPr>
          <a:xfrm>
            <a:off x="274320" y="1115568"/>
            <a:ext cx="85953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0F3D4C"/>
                </a:solidFill>
                <a:latin typeface="Arial"/>
              </a:rPr>
              <a:t>Gemini reads, ADK orchestrates, Python computes, Cloud Run serves.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274320" y="1645920"/>
            <a:ext cx="2075688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22" name="TextBox 121"/>
          <p:cNvSpPr txBox="1"/>
          <p:nvPr/>
        </p:nvSpPr>
        <p:spPr>
          <a:xfrm>
            <a:off x="402336" y="1737360"/>
            <a:ext cx="1819656" cy="228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2A7F8E"/>
                </a:solidFill>
                <a:latin typeface="Arial"/>
              </a:rPr>
              <a:t>GOOGLE CLOUD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02336" y="1947672"/>
            <a:ext cx="1819656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Gemini 3.8 Flash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402336" y="2304288"/>
            <a:ext cx="1819656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5F6368"/>
                </a:solidFill>
                <a:latin typeface="Arial"/>
              </a:rPr>
              <a:t>Default for every agent. Measured USD 0.26-0.31 per cold case; USD 0 cached.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2441448" y="1645920"/>
            <a:ext cx="2075688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26" name="TextBox 125"/>
          <p:cNvSpPr txBox="1"/>
          <p:nvPr/>
        </p:nvSpPr>
        <p:spPr>
          <a:xfrm>
            <a:off x="2569464" y="1737360"/>
            <a:ext cx="1819656" cy="228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2A7F8E"/>
                </a:solidFill>
                <a:latin typeface="Arial"/>
              </a:rPr>
              <a:t>GOOGLE CLOUD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2569464" y="1947672"/>
            <a:ext cx="1819656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Gemini 3.1 Pro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569464" y="2304288"/>
            <a:ext cx="1819656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5F6368"/>
                </a:solidFill>
                <a:latin typeface="Arial"/>
              </a:rPr>
              <a:t>One env var switches Extractor, Analyst and Challenger to Pro.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4608576" y="1645920"/>
            <a:ext cx="2075688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30" name="TextBox 129"/>
          <p:cNvSpPr txBox="1"/>
          <p:nvPr/>
        </p:nvSpPr>
        <p:spPr>
          <a:xfrm>
            <a:off x="4736592" y="1737360"/>
            <a:ext cx="1819656" cy="228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2A7F8E"/>
                </a:solidFill>
                <a:latin typeface="Arial"/>
              </a:rPr>
              <a:t>GOOGLE CLOUD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736592" y="1947672"/>
            <a:ext cx="1819656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ADK on Cloud Run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736592" y="2304288"/>
            <a:ext cx="1819656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5F6368"/>
                </a:solidFill>
                <a:latin typeface="Arial"/>
              </a:rPr>
              <a:t>Agent Platform: Intake, 5 Extractors, Analyst, Challenger (investigator, writer), Explainer.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6775704" y="1645920"/>
            <a:ext cx="2075688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34" name="TextBox 133"/>
          <p:cNvSpPr txBox="1"/>
          <p:nvPr/>
        </p:nvSpPr>
        <p:spPr>
          <a:xfrm>
            <a:off x="6903720" y="1737360"/>
            <a:ext cx="1819656" cy="228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2A7F8E"/>
                </a:solidFill>
                <a:latin typeface="Arial"/>
              </a:rPr>
              <a:t>GOOGLE CLOUD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6903720" y="1947672"/>
            <a:ext cx="1819656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Cloud Run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903720" y="2304288"/>
            <a:ext cx="1819656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5F6368"/>
                </a:solidFill>
                <a:latin typeface="Arial"/>
              </a:rPr>
              <a:t>One service: FastAPI, the ADK agents and the React workbench; scales to zero.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274320" y="3172968"/>
            <a:ext cx="2075688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38" name="TextBox 137"/>
          <p:cNvSpPr txBox="1"/>
          <p:nvPr/>
        </p:nvSpPr>
        <p:spPr>
          <a:xfrm>
            <a:off x="402336" y="3264408"/>
            <a:ext cx="1819656" cy="228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2A7F8E"/>
                </a:solidFill>
                <a:latin typeface="Arial"/>
              </a:rPr>
              <a:t>GOOGLE CLOUD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02336" y="3474720"/>
            <a:ext cx="1819656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Firestore + Storage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02336" y="3831335"/>
            <a:ext cx="1819656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5F6368"/>
                </a:solidFill>
                <a:latin typeface="Arial"/>
              </a:rPr>
              <a:t>Cases, extractions, memos, objections, decisions, audit, traces; documents.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2441448" y="3172968"/>
            <a:ext cx="2075688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42" name="TextBox 141"/>
          <p:cNvSpPr txBox="1"/>
          <p:nvPr/>
        </p:nvSpPr>
        <p:spPr>
          <a:xfrm>
            <a:off x="2569464" y="3264408"/>
            <a:ext cx="1819656" cy="228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E0A100"/>
                </a:solidFill>
                <a:latin typeface="Arial"/>
              </a:rPr>
              <a:t>PYTHON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2569464" y="3474720"/>
            <a:ext cx="1819656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Deterministic tools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2569464" y="3831335"/>
            <a:ext cx="1819656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5F6368"/>
                </a:solidFill>
                <a:latin typeface="Arial"/>
              </a:rPr>
              <a:t>Cash-flow model, balance chain, image hash, PDF text-layer cross-check, date and entity checks.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4608576" y="3172968"/>
            <a:ext cx="2075688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46" name="TextBox 145"/>
          <p:cNvSpPr txBox="1"/>
          <p:nvPr/>
        </p:nvSpPr>
        <p:spPr>
          <a:xfrm>
            <a:off x="4736592" y="3264408"/>
            <a:ext cx="1819656" cy="228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E0A100"/>
                </a:solidFill>
                <a:latin typeface="Arial"/>
              </a:rPr>
              <a:t>PYTHON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4736592" y="3474720"/>
            <a:ext cx="1819656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LLM cache, budget cap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736592" y="3831335"/>
            <a:ext cx="1819656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5F6368"/>
                </a:solidFill>
                <a:latin typeface="Arial"/>
              </a:rPr>
              <a:t>Content-hash cache per model and prompt version; USD cap shared by all instances.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6775704" y="3172968"/>
            <a:ext cx="2075688" cy="1417320"/>
          </a:xfrm>
          <a:prstGeom prst="roundRect">
            <a:avLst>
              <a:gd name="adj" fmla="val 6000"/>
            </a:avLst>
          </a:prstGeom>
          <a:solidFill>
            <a:srgbClr val="FFF3CC"/>
          </a:solidFill>
          <a:ln w="19050">
            <a:solidFill>
              <a:srgbClr val="E0A10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50" name="TextBox 149"/>
          <p:cNvSpPr txBox="1"/>
          <p:nvPr/>
        </p:nvSpPr>
        <p:spPr>
          <a:xfrm>
            <a:off x="6903720" y="3264408"/>
            <a:ext cx="1819656" cy="228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E0A100"/>
                </a:solidFill>
                <a:latin typeface="Arial"/>
              </a:rPr>
              <a:t>INTEGRATION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6903720" y="3474720"/>
            <a:ext cx="1819656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REST API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903720" y="3831335"/>
            <a:ext cx="1819656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5F6368"/>
                </a:solidFill>
                <a:latin typeface="Arial"/>
              </a:rPr>
              <a:t>Any loan origination system can create cases, run stages and read memos.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274320" y="4709160"/>
            <a:ext cx="85953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00" b="0" i="1">
                <a:solidFill>
                  <a:srgbClr val="5F6368"/>
                </a:solidFill>
                <a:latin typeface="Arial"/>
              </a:rPr>
              <a:t>Grounding: only the applicant's documents; every value must carry source {doc_id, page, bbox}. No separate OCR: Gemini reads rendered pages.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TextBox 127"/>
          <p:cNvSpPr txBox="1"/>
          <p:nvPr/>
        </p:nvSpPr>
        <p:spPr>
          <a:xfrm>
            <a:off x="274320" y="1143000"/>
            <a:ext cx="859536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0F3D4C"/>
                </a:solidFill>
                <a:latin typeface="Arial"/>
              </a:rPr>
              <a:t>Measured: USD 0.26-0.31 per case on a cold Flash run, USD 0 on a cached re-run</a:t>
            </a:r>
          </a:p>
        </p:txBody>
      </p:sp>
      <p:graphicFrame>
        <p:nvGraphicFramePr>
          <p:cNvPr id="129" name="Chart 128"/>
          <p:cNvGraphicFramePr>
            <a:graphicFrameLocks noGrp="1"/>
          </p:cNvGraphicFramePr>
          <p:nvPr/>
        </p:nvGraphicFramePr>
        <p:xfrm>
          <a:off x="274320" y="1600200"/>
          <a:ext cx="5212080" cy="3200400"/>
        </p:xfrm>
        <a:graphic>
          <a:graphicData uri="http://schemas.openxmlformats.org/drawingml/2006/chart">
            <c:chart r:id="rId5"/>
          </a:graphicData>
        </a:graphic>
      </p:graphicFrame>
      <p:graphicFrame>
        <p:nvGraphicFramePr>
          <p:cNvPr id="130" name="Table 129"/>
          <p:cNvGraphicFramePr>
            <a:graphicFrameLocks noGrp="1"/>
          </p:cNvGraphicFramePr>
          <p:nvPr/>
        </p:nvGraphicFramePr>
        <p:xfrm>
          <a:off x="5760720" y="1645920"/>
          <a:ext cx="3108959" cy="31089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234440"/>
                <a:gridCol w="1874519"/>
              </a:tblGrid>
              <a:tr h="3886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Assumption</a:t>
                      </a:r>
                    </a:p>
                  </a:txBody>
                  <a:tcPr marL="54864" marR="54864" marT="27432" marB="27432" anchor="ctr">
                    <a:solidFill>
                      <a:srgbClr val="0F3D4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Value</a:t>
                      </a:r>
                    </a:p>
                  </a:txBody>
                  <a:tcPr marL="54864" marR="54864" marT="27432" marB="27432" anchor="ctr">
                    <a:solidFill>
                      <a:srgbClr val="0F3D4C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02124"/>
                          </a:solidFill>
                          <a:latin typeface="Arial"/>
                        </a:rPr>
                        <a:t>Gemini 3.8 Flash list price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USD 0.75 / 3.75 per 1M tokens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02124"/>
                          </a:solidFill>
                          <a:latin typeface="Arial"/>
                        </a:rPr>
                        <a:t>Measured cold run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~2 min and USD 0.26-0.31 per case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02124"/>
                          </a:solidFill>
                          <a:latin typeface="Arial"/>
                        </a:rPr>
                        <a:t>Cached re-run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USD 0 (content-hash LLM cache)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02124"/>
                          </a:solidFill>
                          <a:latin typeface="Arial"/>
                        </a:rPr>
                        <a:t>Public demo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Replays the recorded live Gemini run, USD 0; only the customer letter calls Gemini (~USD 0.0015)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02124"/>
                          </a:solidFill>
                          <a:latin typeface="Arial"/>
                        </a:rPr>
                        <a:t>Hosting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Cloud Run scales to zero; Firestore and Storage in free tier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02124"/>
                          </a:solidFill>
                          <a:latin typeface="Arial"/>
                        </a:rPr>
                        <a:t>Guardrail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Budget-cap env var stops Gemini calls at the limit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02124"/>
                          </a:solidFill>
                          <a:latin typeface="Arial"/>
                        </a:rPr>
                        <a:t>Build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2 engineers, 4 days, free tier and trial credits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screenshots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Picture 135" descr="v2_newcas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1188720"/>
            <a:ext cx="2852928" cy="178308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137" name="Rounded Rectangle 136"/>
          <p:cNvSpPr/>
          <p:nvPr/>
        </p:nvSpPr>
        <p:spPr>
          <a:xfrm>
            <a:off x="347472" y="126187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pic>
        <p:nvPicPr>
          <p:cNvPr id="138" name="Picture 137" descr="v2_evidence_c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29000" y="1188720"/>
            <a:ext cx="2449797" cy="178308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139" name="Rounded Rectangle 138"/>
          <p:cNvSpPr/>
          <p:nvPr/>
        </p:nvSpPr>
        <p:spPr>
          <a:xfrm>
            <a:off x="3502152" y="126187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pic>
        <p:nvPicPr>
          <p:cNvPr id="140" name="Picture 139" descr="v2_receipt_c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4320" y="3108960"/>
            <a:ext cx="2449797" cy="178308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141" name="Rounded Rectangle 140"/>
          <p:cNvSpPr/>
          <p:nvPr/>
        </p:nvSpPr>
        <p:spPr>
          <a:xfrm>
            <a:off x="347472" y="318211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pic>
        <p:nvPicPr>
          <p:cNvPr id="142" name="Picture 141" descr="v2_decision_c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29000" y="3108960"/>
            <a:ext cx="2449797" cy="178308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143" name="Rounded Rectangle 142"/>
          <p:cNvSpPr/>
          <p:nvPr/>
        </p:nvSpPr>
        <p:spPr>
          <a:xfrm>
            <a:off x="3502152" y="318211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6629400" y="1207008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6949440" y="1152144"/>
            <a:ext cx="1920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0F3D4C"/>
                </a:solidFill>
                <a:latin typeface="Arial"/>
              </a:rPr>
              <a:t>New case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629400" y="1499616"/>
            <a:ext cx="2240280" cy="6583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850" b="0" i="0">
                <a:solidFill>
                  <a:srgbClr val="5F6368"/>
                </a:solidFill>
                <a:latin typeface="Arial"/>
              </a:rPr>
              <a:t>Applicant details, then raw documents. Intake classifies them and flags quality issues.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6629400" y="217627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949440" y="2121408"/>
            <a:ext cx="1920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0F3D4C"/>
                </a:solidFill>
                <a:latin typeface="Arial"/>
              </a:rPr>
              <a:t>Click a number, see the line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6629400" y="2468880"/>
            <a:ext cx="2240280" cy="6583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850" b="0" i="0">
                <a:solidFill>
                  <a:srgbClr val="5F6368"/>
                </a:solidFill>
                <a:latin typeface="Arial"/>
              </a:rPr>
              <a:t>Evidence panel with computation and all sources; the statement opens with the bounding box highlighted.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6629400" y="3145536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6949440" y="3090672"/>
            <a:ext cx="1920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0F3D4C"/>
                </a:solidFill>
                <a:latin typeface="Arial"/>
              </a:rPr>
              <a:t>Challenger objections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629400" y="3438144"/>
            <a:ext cx="2240280" cy="6583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850" b="0" i="0">
                <a:solidFill>
                  <a:srgbClr val="5F6368"/>
                </a:solidFill>
                <a:latin typeface="Arial"/>
              </a:rPr>
              <a:t>Critical: two receipt photos are the same image with an edited date. Evidence chips open the photo.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6629400" y="4114800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949440" y="4059936"/>
            <a:ext cx="1920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0F3D4C"/>
                </a:solidFill>
                <a:latin typeface="Arial"/>
              </a:rPr>
              <a:t>The underwriter signs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629400" y="4407408"/>
            <a:ext cx="2240280" cy="6583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850" b="0" i="0">
                <a:solidFill>
                  <a:srgbClr val="5F6368"/>
                </a:solidFill>
                <a:latin typeface="Arial"/>
              </a:rPr>
              <a:t>Outcome, conditions and rationale go into the audit log; accept/dismiss rates set check priorities.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benchmark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TextBox 143"/>
          <p:cNvSpPr txBox="1"/>
          <p:nvPr/>
        </p:nvSpPr>
        <p:spPr>
          <a:xfrm>
            <a:off x="274320" y="1115568"/>
            <a:ext cx="85953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F3D4C"/>
                </a:solidFill>
                <a:latin typeface="Arial"/>
              </a:rPr>
              <a:t>LedgerLens caught 90% of the planted risks on live Gemini output; a single prompt on the same documents caught 15%.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274320" y="1783080"/>
            <a:ext cx="4114800" cy="1828800"/>
          </a:xfrm>
          <a:prstGeom prst="roundRect">
            <a:avLst>
              <a:gd name="adj" fmla="val 6000"/>
            </a:avLst>
          </a:prstGeom>
          <a:solidFill>
            <a:srgbClr val="FFF3CC"/>
          </a:solidFill>
          <a:ln w="19050">
            <a:solidFill>
              <a:srgbClr val="E0A10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46" name="TextBox 145"/>
          <p:cNvSpPr txBox="1"/>
          <p:nvPr/>
        </p:nvSpPr>
        <p:spPr>
          <a:xfrm>
            <a:off x="411480" y="182880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1" i="0">
                <a:solidFill>
                  <a:srgbClr val="E0A100"/>
                </a:solidFill>
                <a:latin typeface="Arial"/>
              </a:rPr>
              <a:t>LEDGERLENS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411480" y="2194560"/>
            <a:ext cx="2103120" cy="9144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6000" b="1" i="0">
                <a:solidFill>
                  <a:srgbClr val="0F3D4C"/>
                </a:solidFill>
                <a:latin typeface="Arial"/>
              </a:rPr>
              <a:t>90%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11480" y="310896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00" b="0" i="0">
                <a:solidFill>
                  <a:srgbClr val="202124"/>
                </a:solidFill>
                <a:latin typeface="Arial"/>
              </a:rPr>
              <a:t>of planted risks caught</a:t>
            </a:r>
          </a:p>
          <a:p>
            <a:pPr algn="l"/>
            <a:r>
              <a:rPr sz="850" b="0" i="0">
                <a:solidFill>
                  <a:srgbClr val="5F6368"/>
                </a:solidFill>
                <a:latin typeface="Arial"/>
              </a:rPr>
              <a:t>small synthetic sample; indicative results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514600" y="1828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1" i="0">
                <a:solidFill>
                  <a:srgbClr val="5F6368"/>
                </a:solidFill>
                <a:latin typeface="Arial"/>
              </a:rPr>
              <a:t>SINGLE PROMPT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514600" y="2194560"/>
            <a:ext cx="1828800" cy="9144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6000" b="1" i="0">
                <a:solidFill>
                  <a:srgbClr val="B0B8BE"/>
                </a:solidFill>
                <a:latin typeface="Arial"/>
              </a:rPr>
              <a:t>15%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514600" y="3108960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00" b="0" i="0">
                <a:solidFill>
                  <a:srgbClr val="5F6368"/>
                </a:solidFill>
                <a:latin typeface="Arial"/>
              </a:rPr>
              <a:t>same documents</a:t>
            </a:r>
          </a:p>
          <a:p>
            <a:pPr algn="l"/>
            <a:r>
              <a:rPr sz="850" b="0" i="0">
                <a:solidFill>
                  <a:srgbClr val="5F6368"/>
                </a:solidFill>
                <a:latin typeface="Arial"/>
              </a:rPr>
              <a:t>and same model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274320" y="3749039"/>
            <a:ext cx="201168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53" name="TextBox 152"/>
          <p:cNvSpPr txBox="1"/>
          <p:nvPr/>
        </p:nvSpPr>
        <p:spPr>
          <a:xfrm>
            <a:off x="384048" y="3794760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3000" b="1" i="0">
                <a:solidFill>
                  <a:srgbClr val="0F3D4C"/>
                </a:solidFill>
                <a:latin typeface="Arial"/>
              </a:rPr>
              <a:t>100%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384048" y="4343400"/>
            <a:ext cx="1828800" cy="5029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5F6368"/>
                </a:solidFill>
                <a:latin typeface="Arial"/>
              </a:rPr>
              <a:t>of memo numbers link to a page (single prompt: 23%)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2377440" y="3749039"/>
            <a:ext cx="201168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56" name="TextBox 155"/>
          <p:cNvSpPr txBox="1"/>
          <p:nvPr/>
        </p:nvSpPr>
        <p:spPr>
          <a:xfrm>
            <a:off x="2487168" y="3794760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3000" b="1" i="0">
                <a:solidFill>
                  <a:srgbClr val="0F3D4C"/>
                </a:solidFill>
                <a:latin typeface="Arial"/>
              </a:rPr>
              <a:t>~2 min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2487168" y="4343400"/>
            <a:ext cx="1828800" cy="5029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5F6368"/>
                </a:solidFill>
                <a:latin typeface="Arial"/>
              </a:rPr>
              <a:t>per cold case, USD 0.26-0.31; cached re-run USD 0</a:t>
            </a:r>
          </a:p>
        </p:txBody>
      </p:sp>
      <p:graphicFrame>
        <p:nvGraphicFramePr>
          <p:cNvPr id="158" name="Table 157"/>
          <p:cNvGraphicFramePr>
            <a:graphicFrameLocks noGrp="1"/>
          </p:cNvGraphicFramePr>
          <p:nvPr/>
        </p:nvGraphicFramePr>
        <p:xfrm>
          <a:off x="4572000" y="1783080"/>
          <a:ext cx="4297679" cy="20574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691640"/>
                <a:gridCol w="731520"/>
                <a:gridCol w="1874519"/>
              </a:tblGrid>
              <a:tr h="257175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54864" marR="54864" marT="27432" marB="27432" anchor="ctr">
                    <a:solidFill>
                      <a:srgbClr val="0F3D4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54864" marR="54864" marT="27432" marB="27432" anchor="ctr">
                    <a:solidFill>
                      <a:srgbClr val="0F3D4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Result</a:t>
                      </a:r>
                    </a:p>
                  </a:txBody>
                  <a:tcPr marL="54864" marR="54864" marT="27432" marB="27432" anchor="ctr">
                    <a:solidFill>
                      <a:srgbClr val="0F3D4C"/>
                    </a:solidFill>
                  </a:tcPr>
                </a:tc>
              </a:tr>
              <a:tr h="257175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02124"/>
                          </a:solidFill>
                          <a:latin typeface="Arial"/>
                        </a:rPr>
                        <a:t>Risks caught (strict)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≥ 80%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90% (single prompt: 15%)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57175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02124"/>
                          </a:solidFill>
                          <a:latin typeface="Arial"/>
                        </a:rPr>
                        <a:t>Traceable numbers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100% (single prompt: 23%)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</a:tr>
              <a:tr h="257175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02124"/>
                          </a:solidFill>
                          <a:latin typeface="Arial"/>
                        </a:rPr>
                        <a:t>Objections on clean case 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≤ 20%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none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57175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02124"/>
                          </a:solidFill>
                          <a:latin typeface="Arial"/>
                        </a:rPr>
                        <a:t>Extraction row accuracy*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≥ 97%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</a:tr>
              <a:tr h="257175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02124"/>
                          </a:solidFill>
                          <a:latin typeface="Arial"/>
                        </a:rPr>
                        <a:t>Evidence-link accuracy*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≥ 95%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57175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02124"/>
                          </a:solidFill>
                          <a:latin typeface="Arial"/>
                        </a:rPr>
                        <a:t>Time per case (cold)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≤ 180 s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~2 min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</a:tr>
              <a:tr h="257175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02124"/>
                          </a:solidFill>
                          <a:latin typeface="Arial"/>
                        </a:rPr>
                        <a:t>Cost per case (cold)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≤ USD 0.50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USD 0.26-0.31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9" name="Rounded Rectangle 158"/>
          <p:cNvSpPr/>
          <p:nvPr/>
        </p:nvSpPr>
        <p:spPr>
          <a:xfrm>
            <a:off x="4572000" y="3913632"/>
            <a:ext cx="4297680" cy="1024128"/>
          </a:xfrm>
          <a:prstGeom prst="roundRect">
            <a:avLst>
              <a:gd name="adj" fmla="val 6000"/>
            </a:avLst>
          </a:prstGeom>
          <a:solidFill>
            <a:srgbClr val="F7F9FA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60" name="TextBox 159"/>
          <p:cNvSpPr txBox="1"/>
          <p:nvPr/>
        </p:nvSpPr>
        <p:spPr>
          <a:xfrm>
            <a:off x="4663440" y="3941063"/>
            <a:ext cx="4133087" cy="987552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202124"/>
                </a:solidFill>
                <a:latin typeface="Arial"/>
              </a:rPr>
              <a:t>Measurement. </a:t>
            </a:r>
            <a:r>
              <a:rPr sz="750" b="0" i="0">
                <a:solidFill>
                  <a:srgbClr val="202124"/>
                </a:solidFill>
                <a:latin typeface="Arial"/>
              </a:rPr>
              <a:t>Live gemini-3.8-flash runs, 2026-10-15/16, on three synthetic businesses with team-planted risks. Strict scoring: each objection must include the risk's identifying amount or document, one objection per risk. </a:t>
            </a:r>
            <a:r>
              <a:rPr sz="750" b="0" i="0">
                <a:solidFill>
                  <a:srgbClr val="202124"/>
                </a:solidFill>
                <a:latin typeface="Arial"/>
              </a:rPr>
              <a:t>Traceable = a memo number linked to a document and page; correctness not measured. The sample is small, so every percentage is indicative. Missed: dashboard gross vs payout, COD vs cash deposits. Recommendation matched on C; A gave approve_with_conditions (expected approve), B request_more_documents (expected approve_with_conditions). *Clean born-digital synthetic PDFs; real scans less accurate.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Future development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52" name="Picture 151" descr="roadm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1188720"/>
            <a:ext cx="8595360" cy="3245927"/>
          </a:xfrm>
          <a:prstGeom prst="rect">
            <a:avLst/>
          </a:prstGeom>
        </p:spPr>
      </p:pic>
      <p:sp>
        <p:nvSpPr>
          <p:cNvPr id="153" name="TextBox 152"/>
          <p:cNvSpPr txBox="1"/>
          <p:nvPr/>
        </p:nvSpPr>
        <p:spPr>
          <a:xfrm>
            <a:off x="274320" y="4617720"/>
            <a:ext cx="8595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 i="1">
                <a:solidFill>
                  <a:srgbClr val="5F6368"/>
                </a:solidFill>
                <a:latin typeface="Arial"/>
              </a:rPr>
              <a:t>Humans decide. Every figure and decision is traceable. The prototype uses only watermarked synthetic data. Production keeps documents and model endpoints in-region.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Submission links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/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/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/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Rounded Rectangle 159"/>
          <p:cNvSpPr/>
          <p:nvPr/>
        </p:nvSpPr>
        <p:spPr>
          <a:xfrm>
            <a:off x="274320" y="1188720"/>
            <a:ext cx="8595360" cy="1097280"/>
          </a:xfrm>
          <a:prstGeom prst="roundRect">
            <a:avLst>
              <a:gd name="adj" fmla="val 6000"/>
            </a:avLst>
          </a:prstGeom>
          <a:solidFill>
            <a:srgbClr val="F7F9FA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61" name="TextBox 160"/>
          <p:cNvSpPr txBox="1"/>
          <p:nvPr/>
        </p:nvSpPr>
        <p:spPr>
          <a:xfrm>
            <a:off x="457200" y="132588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0F3D4C"/>
                </a:solidFill>
                <a:latin typeface="Arial"/>
              </a:rPr>
              <a:t>GitHub public repository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457200" y="1783080"/>
            <a:ext cx="310896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2A7F8E"/>
                </a:solidFill>
                <a:latin typeface="Arial"/>
              </a:rPr>
              <a:t>github.com/changhyeonnam/ghack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3749039" y="1325880"/>
            <a:ext cx="493776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5F6368"/>
                </a:solidFill>
                <a:latin typeface="Arial"/>
              </a:rPr>
              <a:t>English README, architecture, run instructions, synthetic-data notice, presentation/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274320" y="2404872"/>
            <a:ext cx="8595360" cy="1097280"/>
          </a:xfrm>
          <a:prstGeom prst="roundRect">
            <a:avLst>
              <a:gd name="adj" fmla="val 6000"/>
            </a:avLst>
          </a:prstGeom>
          <a:solidFill>
            <a:srgbClr val="F7F9FA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65" name="TextBox 164"/>
          <p:cNvSpPr txBox="1"/>
          <p:nvPr/>
        </p:nvSpPr>
        <p:spPr>
          <a:xfrm>
            <a:off x="457200" y="2542032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0F3D4C"/>
                </a:solidFill>
                <a:latin typeface="Arial"/>
              </a:rPr>
              <a:t>Demo video (2 min 59 s)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57200" y="2999232"/>
            <a:ext cx="310896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2A7F8E"/>
                </a:solidFill>
                <a:latin typeface="Arial"/>
              </a:rPr>
              <a:t>TBD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3749039" y="2542032"/>
            <a:ext cx="493776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5F6368"/>
                </a:solidFill>
                <a:latin typeface="Arial"/>
              </a:rPr>
              <a:t>Problem, how it works, one case end to end (click-to-source, Challenger, decision, letter), benchmark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274320" y="3621024"/>
            <a:ext cx="8595360" cy="1097280"/>
          </a:xfrm>
          <a:prstGeom prst="roundRect">
            <a:avLst>
              <a:gd name="adj" fmla="val 6000"/>
            </a:avLst>
          </a:prstGeom>
          <a:solidFill>
            <a:srgbClr val="F7F9FA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69" name="TextBox 168"/>
          <p:cNvSpPr txBox="1"/>
          <p:nvPr/>
        </p:nvSpPr>
        <p:spPr>
          <a:xfrm>
            <a:off x="457200" y="3758184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0F3D4C"/>
                </a:solidFill>
                <a:latin typeface="Arial"/>
              </a:rPr>
              <a:t>Final product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57200" y="4215384"/>
            <a:ext cx="310896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2A7F8E"/>
                </a:solidFill>
                <a:latin typeface="Arial"/>
              </a:rPr>
              <a:t>ledgerlens-api-629502893425.asia-southeast1.run.app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3749039" y="3758184"/>
            <a:ext cx="493776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5F6368"/>
                </a:solidFill>
                <a:latin typeface="Arial"/>
              </a:rPr>
              <a:t>Cloud Run, live Gemini within a fixed AI budget (on-screen notice when reached). Each browser gets its own copy of the three demo cases, which replay the recorded live run in seconds; visitors' cases are shared read-only. No login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274320" y="4846320"/>
            <a:ext cx="8595360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1">
                <a:solidFill>
                  <a:srgbClr val="5F6368"/>
                </a:solidFill>
                <a:latin typeface="Arial"/>
              </a:rPr>
              <a:t>Links are inserted at submission on 18 October 2026.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Appendix: the Challenger's 12 fixed checks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67" name="Picture 166" descr="checks_m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1188720"/>
            <a:ext cx="8595360" cy="3608601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Appendix: portfolio, cash flow and audit views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72" name="Picture 71" descr="v2_portfoli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2779776" cy="173736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73" name="TextBox 72"/>
          <p:cNvSpPr txBox="1"/>
          <p:nvPr/>
        </p:nvSpPr>
        <p:spPr>
          <a:xfrm>
            <a:off x="274320" y="3017520"/>
            <a:ext cx="2788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 i="0">
                <a:solidFill>
                  <a:srgbClr val="0F3D4C"/>
                </a:solidFill>
                <a:latin typeface="Arial"/>
              </a:rPr>
              <a:t>Portfolio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74320" y="3337560"/>
            <a:ext cx="278892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 i="0">
                <a:solidFill>
                  <a:srgbClr val="5F6368"/>
                </a:solidFill>
                <a:latin typeface="Arial"/>
              </a:rPr>
              <a:t>Cases in review, open objections and unsourced numbers across the book; filters by status.</a:t>
            </a:r>
          </a:p>
        </p:txBody>
      </p:sp>
      <p:pic>
        <p:nvPicPr>
          <p:cNvPr id="75" name="Picture 74" descr="v2_cashflow_c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7539" y="1188720"/>
            <a:ext cx="2386982" cy="173736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76" name="TextBox 75"/>
          <p:cNvSpPr txBox="1"/>
          <p:nvPr/>
        </p:nvSpPr>
        <p:spPr>
          <a:xfrm>
            <a:off x="3177539" y="3017520"/>
            <a:ext cx="2788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 i="0">
                <a:solidFill>
                  <a:srgbClr val="0F3D4C"/>
                </a:solidFill>
                <a:latin typeface="Arial"/>
              </a:rPr>
              <a:t>Cash flow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177539" y="3337560"/>
            <a:ext cx="278892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 i="0">
                <a:solidFill>
                  <a:srgbClr val="5F6368"/>
                </a:solidFill>
                <a:latin typeface="Arial"/>
              </a:rPr>
              <a:t>Deterministic monthly model: inflow, net, trend, volatility, end-of-month share, repayment capacity.</a:t>
            </a:r>
          </a:p>
        </p:txBody>
      </p:sp>
      <p:pic>
        <p:nvPicPr>
          <p:cNvPr id="78" name="Picture 77" descr="v2_audit_c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0759" y="1188720"/>
            <a:ext cx="2386982" cy="173736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79" name="TextBox 78"/>
          <p:cNvSpPr txBox="1"/>
          <p:nvPr/>
        </p:nvSpPr>
        <p:spPr>
          <a:xfrm>
            <a:off x="6080759" y="3017520"/>
            <a:ext cx="2788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 i="0">
                <a:solidFill>
                  <a:srgbClr val="0F3D4C"/>
                </a:solidFill>
                <a:latin typeface="Arial"/>
              </a:rPr>
              <a:t>Audit timeline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080759" y="3337560"/>
            <a:ext cx="278892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 i="0">
                <a:solidFill>
                  <a:srgbClr val="5F6368"/>
                </a:solidFill>
                <a:latin typeface="Arial"/>
              </a:rPr>
              <a:t>Every stage and agent call, with version, model and prompt, in a trail regulators can review.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" y="4389120"/>
            <a:ext cx="85953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 i="1">
                <a:solidFill>
                  <a:srgbClr val="5F6368"/>
                </a:solidFill>
                <a:latin typeface="Arial"/>
              </a:rPr>
              <a:t>Also in the build: dark and light themes, PDF text-layer cross-check on every extracted amount, content-hash LLM cache, cache_only demo mode, budget cap, printable paper memo with footnoted sources.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