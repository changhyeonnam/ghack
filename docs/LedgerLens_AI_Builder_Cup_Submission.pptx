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8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3" r:id="rId2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2.xml"/><Relationship Id="rId29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0F3D4C"/>
                </a:solidFill>
                <a:latin typeface="Arial"/>
              </a:rPr>
              <a:t>Cost per case, USD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per case</c:v>
                </c:pt>
              </c:strCache>
            </c:strRef>
          </c:tx>
          <c:spPr>
            <a:solidFill>
              <a:srgbClr val="2A7F8E"/>
            </a:solidFill>
          </c:spPr>
          <c:dPt>
            <c:idx val="0"/>
            <c:spPr>
              <a:solidFill>
                <a:srgbClr val="B0B8BE"/>
              </a:solidFill>
            </c:spPr>
          </c:dPt>
          <c:dPt>
            <c:idx val="2"/>
            <c:spPr>
              <a:solidFill>
                <a:srgbClr val="E0A100"/>
              </a:solidFill>
            </c:spPr>
          </c:dPt>
          <c:cat>
            <c:strRef>
              <c:f>Sheet1!$A$2:$A$5</c:f>
              <c:strCache>
                <c:ptCount val="4"/>
                <c:pt idx="0">
                  <c:v>Manual review (45 min at USD 15/h)</c:v>
                </c:pt>
                <c:pt idx="1">
                  <c:v>LedgerLens, Gemini 3.1 Pro upgrade</c:v>
                </c:pt>
                <c:pt idx="2">
                  <c:v>LedgerLens, Gemini 3.8 Flash default</c:v>
                </c:pt>
                <c:pt idx="3">
                  <c:v>LedgerLens, cached re-run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11.25</c:v>
                </c:pt>
                <c:pt idx="1">
                  <c:v>0.4</c:v>
                </c:pt>
                <c:pt idx="2">
                  <c:v>0.1</c:v>
                </c:pt>
                <c:pt idx="3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 b="1">
                  <a:solidFill>
                    <a:srgbClr val="0F3D4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DE"/>
            </a:solidFill>
          </a:ln>
        </c:spPr>
        <c:txPr>
          <a:bodyPr/>
          <a:lstStyle/>
          <a:p>
            <a:pPr>
              <a:defRPr sz="950">
                <a:solidFill>
                  <a:srgbClr val="20212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Single prompt</c:v>
                </c:pt>
              </c:strCache>
            </c:strRef>
          </c:tx>
          <c:spPr>
            <a:solidFill>
              <a:srgbClr val="B0B8BE"/>
            </a:solidFill>
          </c:spPr>
          <c:cat>
            <c:strRef>
              <c:f>Sheet1!$A$2:$A$3</c:f>
              <c:strCache>
                <c:ptCount val="2"/>
                <c:pt idx="0">
                  <c:v>Planted traps caught (of 20)</c:v>
                </c:pt>
                <c:pt idx="1">
                  <c:v>Unsourced numbers in memo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LedgerLens</c:v>
                </c:pt>
              </c:strCache>
            </c:strRef>
          </c:tx>
          <c:spPr>
            <a:solidFill>
              <a:srgbClr val="E0A100"/>
            </a:solidFill>
          </c:spPr>
          <c:cat>
            <c:strRef>
              <c:f>Sheet1!$A$2:$A$3</c:f>
              <c:strCache>
                <c:ptCount val="2"/>
                <c:pt idx="0">
                  <c:v>Planted traps caught (of 20)</c:v>
                </c:pt>
                <c:pt idx="1">
                  <c:v>Unsourced numbers in memo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0F3D4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DE"/>
            </a:solidFill>
          </a:ln>
        </c:spPr>
        <c:txPr>
          <a:bodyPr/>
          <a:lstStyle/>
          <a:p>
            <a:pPr>
              <a:defRPr sz="950">
                <a:solidFill>
                  <a:srgbClr val="20212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202124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name: LedgerLens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leader name: Changhyeon (SK Telecom, AI CIC)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Problem Statement: BFSI: Intelligent Risk, Fraud &amp; Financial Experiences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Why this matters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72" name="Picture 71" descr="problem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360860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F6368"/>
                </a:solidFill>
                <a:latin typeface="Arial"/>
              </a:rPr>
              <a:t>Sources: IFC MSME Finance · FiinGroup via Viet Nam News, Aug 2026 · ADB Asia SME Monitor 2025 · Bank Indonesia, Aug 2026 · VCCI Private Economic Report 2025 and VTV,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72" name="Picture 71" descr="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88720"/>
            <a:ext cx="8595360" cy="324592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In one sentence: </a:t>
            </a:r>
            <a:r>
              <a:rPr sz="1100" b="0" i="1">
                <a:solidFill>
                  <a:srgbClr val="202124"/>
                </a:solidFill>
                <a:latin typeface="Arial"/>
              </a:rPr>
              <a:t>the first credit memo where every number can be clicked back to its source, and a second AI tries to break it before a human signs.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80" name="Picture 79" descr="befor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43000"/>
            <a:ext cx="8595360" cy="3336595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274320" y="4434840"/>
            <a:ext cx="8595360" cy="5029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524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11480" y="4462272"/>
            <a:ext cx="8321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Arial"/>
              </a:rPr>
              <a:t>Why it is different: </a:t>
            </a:r>
            <a:r>
              <a:rPr sz="1000" b="0" i="0">
                <a:solidFill>
                  <a:srgbClr val="202124"/>
                </a:solidFill>
                <a:latin typeface="Arial"/>
              </a:rPr>
              <a:t>the memo is written by one agent and attacked by another, every figure is computed by code and linked to its source, and the underwriter's decisions re-rank the next run. A memo, not a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88" name="Picture 87" descr="feature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33659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Out of scope by design: credit scoring, loan pricing, core-banking integration. LedgerLens informs the decision; it does not make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70432"/>
            <a:ext cx="8173783" cy="34747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Three lanes: the loan officer uploads, the agents read and challenge, the underwriter decides. Decisions flow back into the Challenger's priorities.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v2_mem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5760720" cy="360045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05" name="Rounded Rectangle 104"/>
          <p:cNvSpPr/>
          <p:nvPr/>
        </p:nvSpPr>
        <p:spPr>
          <a:xfrm>
            <a:off x="6263640" y="1188720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6373368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20840" y="1261872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</a:rPr>
              <a:t>Memo with a recommendation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73368" y="1609344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Headline, conditions and every figure drafted by the Analyst, from catalog figures only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63640" y="2130552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6373368" y="2258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20840" y="2203704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</a:rPr>
              <a:t>Underlined numbers are evidence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73368" y="2551176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Click one: the source page opens with the bounding box highlighted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63640" y="3072384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4" name="Rounded Rectangle 113"/>
          <p:cNvSpPr/>
          <p:nvPr/>
        </p:nvSpPr>
        <p:spPr>
          <a:xfrm>
            <a:off x="6373368" y="3200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20840" y="3145536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</a:rPr>
              <a:t>Unsourced 0, in the header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73368" y="3493008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Enforced by the output schema; a miss becomes a Challenger objection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63640" y="4014216"/>
            <a:ext cx="2606040" cy="8686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8" name="Rounded Rectangle 117"/>
          <p:cNvSpPr/>
          <p:nvPr/>
        </p:nvSpPr>
        <p:spPr>
          <a:xfrm>
            <a:off x="6373368" y="41422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720840" y="4087368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</a:rPr>
              <a:t>Pipeline, cost, calls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73368" y="443484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Five stages with timings; USD and LLM-call counters per case; Export memo prints a paper memo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4320" y="4809744"/>
            <a:ext cx="5943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1">
                <a:solidFill>
                  <a:srgbClr val="5F6368"/>
                </a:solidFill>
                <a:latin typeface="Arial"/>
              </a:rPr>
              <a:t>Live prototype, case B: 14 documents, 130 figures, 0 unsourced, 12 objections.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52144"/>
            <a:ext cx="7921942" cy="349300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One Google Cloud project end to end. Every agent call is cached by content hash, so re-runs are free and deterministic.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20" name="Picture 119" descr="tech_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213695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Output schema requires source {doc_id, page, bbox} on every value. LEDGERLENS_MODEL_PRO=gemini-3.1-pro-preview switches the heavy agents to Pro.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</a:rPr>
              <a:t>Cheap enough for small loans: about USD 0.10 per case on Flash, zero on a re-run</a:t>
            </a:r>
          </a:p>
        </p:txBody>
      </p:sp>
      <p:graphicFrame>
        <p:nvGraphicFramePr>
          <p:cNvPr id="129" name="Chart 128"/>
          <p:cNvGraphicFramePr>
            <a:graphicFrameLocks noGrp="1"/>
          </p:cNvGraphicFramePr>
          <p:nvPr/>
        </p:nvGraphicFramePr>
        <p:xfrm>
          <a:off x="274320" y="1600200"/>
          <a:ext cx="5212080" cy="32004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5760720" y="1645920"/>
          <a:ext cx="3108959" cy="310895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874519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Gemini 3.8 Flash list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USD 0.75 / 3.75 per 1M tokens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Gemini 3.1 Pro list price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USD 2.00 / 12.00 per 1M tokens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Tokens per 20-document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60-90k input, 15-25k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Hosting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Cloud Run scales to zero; Firestore and Storage in free tier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Budget-cap env var stops Gemini calls once spent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4 engineers, 4 days, free tier and trial credits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v2_newcas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2852928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7" name="Rounded Rectangle 136"/>
          <p:cNvSpPr/>
          <p:nvPr/>
        </p:nvSpPr>
        <p:spPr>
          <a:xfrm>
            <a:off x="34747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138" name="Picture 137" descr="v2_evidence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8872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9" name="Rounded Rectangle 138"/>
          <p:cNvSpPr/>
          <p:nvPr/>
        </p:nvSpPr>
        <p:spPr>
          <a:xfrm>
            <a:off x="350215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40" name="Picture 139" descr="v2_receipt_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1" name="Rounded Rectangle 140"/>
          <p:cNvSpPr/>
          <p:nvPr/>
        </p:nvSpPr>
        <p:spPr>
          <a:xfrm>
            <a:off x="34747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142" name="Picture 141" descr="v2_decision_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3" name="Rounded Rectangle 142"/>
          <p:cNvSpPr/>
          <p:nvPr/>
        </p:nvSpPr>
        <p:spPr>
          <a:xfrm>
            <a:off x="350215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629400" y="1207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49440" y="1152144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New case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29400" y="1499616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Applicant details, then the raw documents. Intake classifies and quality-flags them.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629400" y="21762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49440" y="2121408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Click a number, see the line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29400" y="2468880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Evidence panel with computation and all sources; the statement opens with the bounding box highlighted.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629400" y="3145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49440" y="3090672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Challenger objections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629400" y="3438144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Critical: two receipt photos are the same image with an edited date. Evidence chips open the photo.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629400" y="41148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49440" y="4059936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The underwriter signs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29400" y="4407408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Outcome, conditions and rationale, written to the audit log; accept/dismiss rates re-weight the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</a:rPr>
              <a:t>19 of 20 planted traps caught, zero unsourced numbers. A single prompt on the same documents caught none.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274320" y="1600200"/>
          <a:ext cx="3931920" cy="32004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4434840" y="1600200"/>
          <a:ext cx="4434840" cy="2331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1005840"/>
                <a:gridCol w="1371600"/>
              </a:tblGrid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Trap recall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16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19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Unsourced numbers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 (baseline 6)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Objections on clean case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Extraction row accuracy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97%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Evidence-link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95%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Time per case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180 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4.5 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9146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Cost per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USD 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USD 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Rounded Rectangle 146"/>
          <p:cNvSpPr/>
          <p:nvPr/>
        </p:nvSpPr>
        <p:spPr>
          <a:xfrm>
            <a:off x="4434840" y="4041648"/>
            <a:ext cx="4434840" cy="82296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524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4553712" y="4078224"/>
            <a:ext cx="42062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</a:rPr>
              <a:t>How measured. </a:t>
            </a:r>
            <a:r>
              <a:rPr sz="850" b="0" i="0">
                <a:solidFill>
                  <a:srgbClr val="202124"/>
                </a:solidFill>
                <a:latin typeface="Arial"/>
              </a:rPr>
              <a:t>Run of 2026-10-14 in mock mode: full pipeline plus the deterministic Challenger battery, no Gemini calls, 3 synthetic businesses, 43 documents, answer key traps.json. Baseline is a stub in this mode; a live Gemini 3.8 Flash run replaces both before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52" name="Picture 151" descr="roa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2459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Humans decide, every figure and decision is traceable, the prototype uses watermarked synthetic data only, and production keeps documents and model endpoints in-region.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274320" y="1188720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57200" y="1325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GitHub public repository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178308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github.com/&lt;team&gt;/ledgerlens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749039" y="1325880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English README, architecture, run instructions, synthetic-data notice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74320" y="2404872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57200" y="2542032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Demo video (3 minutes)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2999232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YouTube public link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49039" y="2542032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Problem in 20 seconds, click-to-source and Challenger scenes, benchmark at 2:20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3621024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457200" y="3758184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Final product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200" y="4215384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ledgerlens-&lt;hash&gt;.a.run.app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749039" y="3758184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Cloud Run service, three demo cases preloaded, warm through evaluation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Links are inserted at submission on 18 October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Challenger's 12 fixed checks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67" name="Picture 166" descr="checks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6086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portfolio, cash flow and audit views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72" name="Picture 71" descr="v2_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2779776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274320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Portfolio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Cases in review, open objections and unsourced numbers across the book; filters by status.</a:t>
            </a:r>
          </a:p>
        </p:txBody>
      </p:sp>
      <p:pic>
        <p:nvPicPr>
          <p:cNvPr id="75" name="Picture 74" descr="v2_cashflow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3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317753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Cash flow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753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Deterministic monthly model: inflow, net, trend, volatility, end-of-month share, repayment capacity.</a:t>
            </a:r>
          </a:p>
        </p:txBody>
      </p:sp>
      <p:pic>
        <p:nvPicPr>
          <p:cNvPr id="78" name="Picture 77" descr="v2_audit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9" name="TextBox 78"/>
          <p:cNvSpPr txBox="1"/>
          <p:nvPr/>
        </p:nvSpPr>
        <p:spPr>
          <a:xfrm>
            <a:off x="608075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Audit timeline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5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Every stage and agent call with version, model and prompt; the trail a regulator can read.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Also in the build: dark and light themes, PDF text-layer cross-check on every extracted amount, content-hash LLM cache, cache_only demo mode, budget cap, printable paper memo with footnoted sources.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